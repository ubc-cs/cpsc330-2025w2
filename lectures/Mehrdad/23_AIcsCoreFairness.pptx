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1" r:id="rId14"/>
    <p:sldId id="284" r:id="rId15"/>
    <p:sldId id="285" r:id="rId16"/>
    <p:sldId id="286" r:id="rId17"/>
    <p:sldId id="287" r:id="rId18"/>
    <p:sldId id="288" r:id="rId19"/>
    <p:sldId id="289" r:id="rId20"/>
    <p:sldId id="290" r:id="rId21"/>
    <p:sldId id="292" r:id="rId22"/>
    <p:sldId id="264" r:id="rId23"/>
    <p:sldId id="265" r:id="rId24"/>
    <p:sldId id="291" r:id="rId25"/>
    <p:sldId id="293" r:id="rId26"/>
  </p:sldIdLst>
  <p:sldSz cx="12192000" cy="6858000"/>
  <p:notesSz cx="6858000" cy="9144000"/>
  <p:embeddedFontLst>
    <p:embeddedFont>
      <p:font typeface="Calibri" panose="020F050202020403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j6enrlZTPzDf2t2qBKFw9KXYzG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29"/>
    <p:restoredTop sz="78878" autoAdjust="0"/>
  </p:normalViewPr>
  <p:slideViewPr>
    <p:cSldViewPr snapToGrid="0">
      <p:cViewPr varScale="1">
        <p:scale>
          <a:sx n="89" d="100"/>
          <a:sy n="89" d="100"/>
        </p:scale>
        <p:origin x="2214" y="6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i, Giulia" userId="ae793f63-b342-411f-bdc7-f371695c6665" providerId="ADAL" clId="{39F65FBD-8317-47EB-83DB-7F82ACBB4AA6}"/>
    <pc:docChg chg="undo redo custSel addSld modSld sldOrd">
      <pc:chgData name="Toti, Giulia" userId="ae793f63-b342-411f-bdc7-f371695c6665" providerId="ADAL" clId="{39F65FBD-8317-47EB-83DB-7F82ACBB4AA6}" dt="2025-12-02T22:02:55.111" v="1786"/>
      <pc:docMkLst>
        <pc:docMk/>
      </pc:docMkLst>
      <pc:sldChg chg="modSp mod">
        <pc:chgData name="Toti, Giulia" userId="ae793f63-b342-411f-bdc7-f371695c6665" providerId="ADAL" clId="{39F65FBD-8317-47EB-83DB-7F82ACBB4AA6}" dt="2025-12-01T21:34:56.623" v="129" actId="115"/>
        <pc:sldMkLst>
          <pc:docMk/>
          <pc:sldMk cId="2143759798" sldId="264"/>
        </pc:sldMkLst>
        <pc:spChg chg="mod">
          <ac:chgData name="Toti, Giulia" userId="ae793f63-b342-411f-bdc7-f371695c6665" providerId="ADAL" clId="{39F65FBD-8317-47EB-83DB-7F82ACBB4AA6}" dt="2025-12-01T21:34:56.623" v="129" actId="115"/>
          <ac:spMkLst>
            <pc:docMk/>
            <pc:sldMk cId="2143759798" sldId="264"/>
            <ac:spMk id="161" creationId="{00000000-0000-0000-0000-000000000000}"/>
          </ac:spMkLst>
        </pc:spChg>
      </pc:sldChg>
      <pc:sldChg chg="addSp modSp mod">
        <pc:chgData name="Toti, Giulia" userId="ae793f63-b342-411f-bdc7-f371695c6665" providerId="ADAL" clId="{39F65FBD-8317-47EB-83DB-7F82ACBB4AA6}" dt="2025-12-02T22:02:55.111" v="1786"/>
        <pc:sldMkLst>
          <pc:docMk/>
          <pc:sldMk cId="0" sldId="290"/>
        </pc:sldMkLst>
        <pc:spChg chg="add mod">
          <ac:chgData name="Toti, Giulia" userId="ae793f63-b342-411f-bdc7-f371695c6665" providerId="ADAL" clId="{39F65FBD-8317-47EB-83DB-7F82ACBB4AA6}" dt="2025-12-01T21:21:25.336" v="14" actId="1076"/>
          <ac:spMkLst>
            <pc:docMk/>
            <pc:sldMk cId="0" sldId="290"/>
            <ac:spMk id="2" creationId="{5A2654A6-05A6-4D19-BEA8-EF299600C345}"/>
          </ac:spMkLst>
        </pc:spChg>
        <pc:spChg chg="mod">
          <ac:chgData name="Toti, Giulia" userId="ae793f63-b342-411f-bdc7-f371695c6665" providerId="ADAL" clId="{39F65FBD-8317-47EB-83DB-7F82ACBB4AA6}" dt="2025-12-02T22:02:55.111" v="1786"/>
          <ac:spMkLst>
            <pc:docMk/>
            <pc:sldMk cId="0" sldId="290"/>
            <ac:spMk id="462" creationId="{00000000-0000-0000-0000-000000000000}"/>
          </ac:spMkLst>
        </pc:spChg>
      </pc:sldChg>
      <pc:sldChg chg="modSp new mod ord">
        <pc:chgData name="Toti, Giulia" userId="ae793f63-b342-411f-bdc7-f371695c6665" providerId="ADAL" clId="{39F65FBD-8317-47EB-83DB-7F82ACBB4AA6}" dt="2025-12-01T21:42:22.552" v="702" actId="20577"/>
        <pc:sldMkLst>
          <pc:docMk/>
          <pc:sldMk cId="1933567350" sldId="291"/>
        </pc:sldMkLst>
        <pc:spChg chg="mod">
          <ac:chgData name="Toti, Giulia" userId="ae793f63-b342-411f-bdc7-f371695c6665" providerId="ADAL" clId="{39F65FBD-8317-47EB-83DB-7F82ACBB4AA6}" dt="2025-12-01T21:30:25.163" v="65" actId="20577"/>
          <ac:spMkLst>
            <pc:docMk/>
            <pc:sldMk cId="1933567350" sldId="291"/>
            <ac:spMk id="2" creationId="{D3302F15-F35E-4320-9790-026E33470688}"/>
          </ac:spMkLst>
        </pc:spChg>
        <pc:spChg chg="mod">
          <ac:chgData name="Toti, Giulia" userId="ae793f63-b342-411f-bdc7-f371695c6665" providerId="ADAL" clId="{39F65FBD-8317-47EB-83DB-7F82ACBB4AA6}" dt="2025-12-01T21:42:22.552" v="702" actId="20577"/>
          <ac:spMkLst>
            <pc:docMk/>
            <pc:sldMk cId="1933567350" sldId="291"/>
            <ac:spMk id="3" creationId="{DD1D7CC9-DC5A-434A-BE29-E5F6581B093A}"/>
          </ac:spMkLst>
        </pc:spChg>
      </pc:sldChg>
      <pc:sldChg chg="addSp delSp modSp new mod modClrScheme chgLayout">
        <pc:chgData name="Toti, Giulia" userId="ae793f63-b342-411f-bdc7-f371695c6665" providerId="ADAL" clId="{39F65FBD-8317-47EB-83DB-7F82ACBB4AA6}" dt="2025-12-01T21:30:13.989" v="38" actId="20577"/>
        <pc:sldMkLst>
          <pc:docMk/>
          <pc:sldMk cId="758936239" sldId="292"/>
        </pc:sldMkLst>
        <pc:spChg chg="del mod ord">
          <ac:chgData name="Toti, Giulia" userId="ae793f63-b342-411f-bdc7-f371695c6665" providerId="ADAL" clId="{39F65FBD-8317-47EB-83DB-7F82ACBB4AA6}" dt="2025-12-01T21:30:08.555" v="19" actId="700"/>
          <ac:spMkLst>
            <pc:docMk/>
            <pc:sldMk cId="758936239" sldId="292"/>
            <ac:spMk id="2" creationId="{5B3B81C5-02FF-4E3A-BE1A-7B177F2607FB}"/>
          </ac:spMkLst>
        </pc:spChg>
        <pc:spChg chg="del mod ord">
          <ac:chgData name="Toti, Giulia" userId="ae793f63-b342-411f-bdc7-f371695c6665" providerId="ADAL" clId="{39F65FBD-8317-47EB-83DB-7F82ACBB4AA6}" dt="2025-12-01T21:30:08.555" v="19" actId="700"/>
          <ac:spMkLst>
            <pc:docMk/>
            <pc:sldMk cId="758936239" sldId="292"/>
            <ac:spMk id="3" creationId="{F5683E7F-F221-4B94-8D3D-DFEE65D6B799}"/>
          </ac:spMkLst>
        </pc:spChg>
        <pc:spChg chg="add mod ord">
          <ac:chgData name="Toti, Giulia" userId="ae793f63-b342-411f-bdc7-f371695c6665" providerId="ADAL" clId="{39F65FBD-8317-47EB-83DB-7F82ACBB4AA6}" dt="2025-12-01T21:30:13.989" v="38" actId="20577"/>
          <ac:spMkLst>
            <pc:docMk/>
            <pc:sldMk cId="758936239" sldId="292"/>
            <ac:spMk id="4" creationId="{CFDC418C-7972-402C-919F-4B2C91DF6F94}"/>
          </ac:spMkLst>
        </pc:spChg>
        <pc:spChg chg="add mod ord">
          <ac:chgData name="Toti, Giulia" userId="ae793f63-b342-411f-bdc7-f371695c6665" providerId="ADAL" clId="{39F65FBD-8317-47EB-83DB-7F82ACBB4AA6}" dt="2025-12-01T21:30:08.555" v="19" actId="700"/>
          <ac:spMkLst>
            <pc:docMk/>
            <pc:sldMk cId="758936239" sldId="292"/>
            <ac:spMk id="5" creationId="{167D739D-3A2E-46E2-8F59-1FC51BF1AA6B}"/>
          </ac:spMkLst>
        </pc:spChg>
      </pc:sldChg>
      <pc:sldChg chg="addSp modSp new mod">
        <pc:chgData name="Toti, Giulia" userId="ae793f63-b342-411f-bdc7-f371695c6665" providerId="ADAL" clId="{39F65FBD-8317-47EB-83DB-7F82ACBB4AA6}" dt="2025-12-01T21:55:49.870" v="1709" actId="1035"/>
        <pc:sldMkLst>
          <pc:docMk/>
          <pc:sldMk cId="3095769668" sldId="293"/>
        </pc:sldMkLst>
        <pc:spChg chg="mod">
          <ac:chgData name="Toti, Giulia" userId="ae793f63-b342-411f-bdc7-f371695c6665" providerId="ADAL" clId="{39F65FBD-8317-47EB-83DB-7F82ACBB4AA6}" dt="2025-12-01T21:43:26.481" v="715" actId="20577"/>
          <ac:spMkLst>
            <pc:docMk/>
            <pc:sldMk cId="3095769668" sldId="293"/>
            <ac:spMk id="2" creationId="{8A3A8927-44F3-44B3-BFCB-68AB965D9836}"/>
          </ac:spMkLst>
        </pc:spChg>
        <pc:spChg chg="mod">
          <ac:chgData name="Toti, Giulia" userId="ae793f63-b342-411f-bdc7-f371695c6665" providerId="ADAL" clId="{39F65FBD-8317-47EB-83DB-7F82ACBB4AA6}" dt="2025-12-01T21:53:41.469" v="1643" actId="27636"/>
          <ac:spMkLst>
            <pc:docMk/>
            <pc:sldMk cId="3095769668" sldId="293"/>
            <ac:spMk id="3" creationId="{F9EA3673-FBB2-4347-8C17-2806D0A103F3}"/>
          </ac:spMkLst>
        </pc:spChg>
        <pc:spChg chg="add mod">
          <ac:chgData name="Toti, Giulia" userId="ae793f63-b342-411f-bdc7-f371695c6665" providerId="ADAL" clId="{39F65FBD-8317-47EB-83DB-7F82ACBB4AA6}" dt="2025-12-01T21:53:51.781" v="1647" actId="1035"/>
          <ac:spMkLst>
            <pc:docMk/>
            <pc:sldMk cId="3095769668" sldId="293"/>
            <ac:spMk id="4" creationId="{9C88911F-098F-40A9-B5ED-B7A0E5A2F60E}"/>
          </ac:spMkLst>
        </pc:spChg>
        <pc:spChg chg="add mod">
          <ac:chgData name="Toti, Giulia" userId="ae793f63-b342-411f-bdc7-f371695c6665" providerId="ADAL" clId="{39F65FBD-8317-47EB-83DB-7F82ACBB4AA6}" dt="2025-12-01T21:54:00.574" v="1648" actId="1076"/>
          <ac:spMkLst>
            <pc:docMk/>
            <pc:sldMk cId="3095769668" sldId="293"/>
            <ac:spMk id="5" creationId="{A6173DBF-5DC5-4EF0-85C7-1E62D55C52A8}"/>
          </ac:spMkLst>
        </pc:spChg>
        <pc:spChg chg="add mod">
          <ac:chgData name="Toti, Giulia" userId="ae793f63-b342-411f-bdc7-f371695c6665" providerId="ADAL" clId="{39F65FBD-8317-47EB-83DB-7F82ACBB4AA6}" dt="2025-12-01T21:55:49.870" v="1709" actId="1035"/>
          <ac:spMkLst>
            <pc:docMk/>
            <pc:sldMk cId="3095769668" sldId="293"/>
            <ac:spMk id="6" creationId="{ABE06981-0C05-43F4-9A33-625E49B4431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lobalnews.ca/news/4532172/amazon-jobs-ai-bia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theregister.com/2023/05/25/facial_recognition_system_used_b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stechnica.com/cars/2019/05/feds-autopilot-was-active-during-deadly-march-tesla-crash/"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igitalfreedomfund.org/the-syri-victory-holding-government-profiling-to-account/"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onlinelibrary.wiley.com/doi/full/10.1111/puar.13483"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ted.com/talks/joy_buolamwini_how_i_m_fighting_bias_in_algorithms?subtitle=e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l.acm.org/doi/abs/10.1145/3194770.3194776?casa_token=xwWdL85twUIAAAAA:yI9YMkIJoVNTLLHbYKgtqngsX9LS0Zn4K3K8yi5T2bDHvdYzPa__2xCmp00Tv0VRtxtXwCvCh17V"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section (or parts of it) can be used as an introduction or recap of basic concepts regarding AI and classification algorithms.</a:t>
            </a: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Use this slide to introduce AI common applications and benefits</a:t>
            </a: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faff14bc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faff14bc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slide is meant to generate doubt → AI applications can cause harm or not work as intended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Story: the algorithm was trained to analyze resumes; it was trained on the last 10 years of actual applications and hiring data; for tech positions, the algorithm learned that men were preferable, since most applicants and hires were men; it started ruling out women by looking for keywords in their resume, like “women’s chess team captain”; after some attempts to fix this, the project was abandoned in 2017.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Alternative source: </a:t>
            </a:r>
            <a:r>
              <a:rPr lang="en-US" u="sng" dirty="0">
                <a:solidFill>
                  <a:schemeClr val="hlink"/>
                </a:solidFill>
                <a:hlinkClick r:id="rId3"/>
              </a:rPr>
              <a:t>https://globalnews.ca/news/4532172/amazon-jobs-ai-bias/</a:t>
            </a:r>
            <a:r>
              <a:rPr lang="en-US" dirty="0"/>
              <a:t> </a:t>
            </a:r>
            <a:endParaRPr dirty="0"/>
          </a:p>
        </p:txBody>
      </p:sp>
      <p:sp>
        <p:nvSpPr>
          <p:cNvPr id="112" name="Google Shape;112;g2ffaff14bc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ffaff14bca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ffaff14bc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2ffaff14bca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ffaff14bca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ffaff14bca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Story: human right activists in the UK are fighting against the use of Live Face Recognition (LFR), which the police hopes to use to fight crime and terrorism. The activists argue that this technology, on top of being an important </a:t>
            </a:r>
            <a:r>
              <a:rPr lang="en-US" b="1" dirty="0"/>
              <a:t>invasion of privacy</a:t>
            </a:r>
            <a:r>
              <a:rPr lang="en-US" dirty="0"/>
              <a:t>, was </a:t>
            </a:r>
            <a:r>
              <a:rPr lang="en-US" b="1" dirty="0"/>
              <a:t>not reliable</a:t>
            </a:r>
            <a:r>
              <a:rPr lang="en-US" dirty="0"/>
              <a:t>, with an accuracy of just 20%. Furthermore, for low level of confidence, the system was found to be </a:t>
            </a:r>
            <a:r>
              <a:rPr lang="en-US" b="1" dirty="0"/>
              <a:t>biased</a:t>
            </a:r>
            <a:r>
              <a:rPr lang="en-US" dirty="0"/>
              <a:t> </a:t>
            </a:r>
            <a:r>
              <a:rPr lang="en-US" b="1" dirty="0"/>
              <a:t>against black people </a:t>
            </a:r>
            <a:r>
              <a:rPr lang="en-US" dirty="0"/>
              <a:t>(i.e., when uncertain, it would </a:t>
            </a:r>
            <a:r>
              <a:rPr lang="en-US" b="1" dirty="0"/>
              <a:t>flag a black person more frequently </a:t>
            </a:r>
            <a:r>
              <a:rPr lang="en-US" dirty="0"/>
              <a:t>than a white or Asian one; source: </a:t>
            </a:r>
            <a:r>
              <a:rPr lang="en-US" u="sng" dirty="0">
                <a:solidFill>
                  <a:schemeClr val="hlink"/>
                </a:solidFill>
                <a:hlinkClick r:id="rId3"/>
              </a:rPr>
              <a:t>https://www.theregister.com/2023/05/25/facial_recognition_system_used_by/</a:t>
            </a:r>
            <a:r>
              <a:rPr lang="en-US"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Racial bias in face recognition algorithms is common, therefore applications must be chosen and monitored carefully.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Important note: face recognition algorithms are not unfair just for failing to recognize a black person, they are unfair because they do so at higher frequency than white people.</a:t>
            </a:r>
            <a:endParaRPr dirty="0"/>
          </a:p>
        </p:txBody>
      </p:sp>
      <p:sp>
        <p:nvSpPr>
          <p:cNvPr id="128" name="Google Shape;128;g2ffaff14bca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ffaff14bca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ffaff14bca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Read and discuss story: </a:t>
            </a:r>
            <a:r>
              <a:rPr lang="en-US" u="sng" dirty="0">
                <a:solidFill>
                  <a:schemeClr val="hlink"/>
                </a:solidFill>
                <a:hlinkClick r:id="rId3"/>
              </a:rPr>
              <a:t>https://arstechnica.com/cars/2019/05/feds-autopilot-was-active-during-deadly-march-tesla-crash/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Highlights: </a:t>
            </a:r>
            <a:r>
              <a:rPr lang="en-US" b="1" dirty="0"/>
              <a:t>all parties involved had some level of responsibility</a:t>
            </a:r>
            <a:r>
              <a:rPr lang="en-US" dirty="0"/>
              <a:t>. </a:t>
            </a:r>
            <a:r>
              <a:rPr lang="en-US" b="1" dirty="0"/>
              <a:t>Tesla</a:t>
            </a:r>
            <a:r>
              <a:rPr lang="en-US" dirty="0"/>
              <a:t>, because the algorithm failed to recognize the incoming truck; the </a:t>
            </a:r>
            <a:r>
              <a:rPr lang="en-US" b="1" dirty="0"/>
              <a:t>driver</a:t>
            </a:r>
            <a:r>
              <a:rPr lang="en-US" dirty="0"/>
              <a:t>, because he was using the autopilot in a non-recommended way and without paying attention; the </a:t>
            </a:r>
            <a:r>
              <a:rPr lang="en-US" b="1" dirty="0"/>
              <a:t>truck driver</a:t>
            </a:r>
            <a:r>
              <a:rPr lang="en-US" dirty="0"/>
              <a:t>, because they did a questionable maneuver to merge onto the highway.</a:t>
            </a:r>
            <a:endParaRPr dirty="0"/>
          </a:p>
        </p:txBody>
      </p:sp>
      <p:sp>
        <p:nvSpPr>
          <p:cNvPr id="138" name="Google Shape;138;g2ffaff14bca_0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7950ba60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7950ba60e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Source (read): </a:t>
            </a:r>
            <a:r>
              <a:rPr lang="en-US" u="sng" dirty="0">
                <a:solidFill>
                  <a:schemeClr val="hlink"/>
                </a:solidFill>
                <a:hlinkClick r:id="rId3"/>
              </a:rPr>
              <a:t>https://digitalfreedomfund.org/the-syri-victory-holding-government-profiling-to-account/</a:t>
            </a:r>
            <a:r>
              <a:rPr lang="en-US" dirty="0"/>
              <a:t>  </a:t>
            </a:r>
            <a:endParaRPr dirty="0"/>
          </a:p>
          <a:p>
            <a:pPr marL="0" lvl="0" indent="0" algn="l" rtl="0">
              <a:spcBef>
                <a:spcPts val="0"/>
              </a:spcBef>
              <a:spcAft>
                <a:spcPts val="0"/>
              </a:spcAft>
              <a:buNone/>
            </a:pPr>
            <a:r>
              <a:rPr lang="en-US" u="sng" dirty="0">
                <a:solidFill>
                  <a:schemeClr val="hlink"/>
                </a:solidFill>
                <a:hlinkClick r:id="rId4"/>
              </a:rPr>
              <a:t>https://onlinelibrary.wiley.com/doi/full/10.1111/puar.13483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Issues (in order of highlight):</a:t>
            </a:r>
            <a:endParaRPr dirty="0"/>
          </a:p>
          <a:p>
            <a:pPr marL="457200" lvl="0" indent="-317500" algn="l" rtl="0">
              <a:spcBef>
                <a:spcPts val="0"/>
              </a:spcBef>
              <a:spcAft>
                <a:spcPts val="0"/>
              </a:spcAft>
              <a:buSzPts val="1400"/>
              <a:buAutoNum type="arabicParenR"/>
            </a:pPr>
            <a:r>
              <a:rPr lang="en-US" dirty="0"/>
              <a:t>The algorithm and the </a:t>
            </a:r>
            <a:r>
              <a:rPr lang="en-US" b="1" dirty="0"/>
              <a:t>way it operates are not public</a:t>
            </a:r>
            <a:r>
              <a:rPr lang="en-US" dirty="0"/>
              <a:t>; people do </a:t>
            </a:r>
            <a:r>
              <a:rPr lang="en-US" b="1" dirty="0"/>
              <a:t>not know why </a:t>
            </a:r>
            <a:r>
              <a:rPr lang="en-US" dirty="0"/>
              <a:t>they have been classified a certain way</a:t>
            </a:r>
            <a:endParaRPr dirty="0"/>
          </a:p>
          <a:p>
            <a:pPr marL="457200" lvl="0" indent="-317500" algn="l" rtl="0">
              <a:spcBef>
                <a:spcPts val="0"/>
              </a:spcBef>
              <a:spcAft>
                <a:spcPts val="0"/>
              </a:spcAft>
              <a:buSzPts val="1400"/>
              <a:buAutoNum type="arabicParenR"/>
            </a:pPr>
            <a:r>
              <a:rPr lang="en-US" dirty="0"/>
              <a:t>Often, they did </a:t>
            </a:r>
            <a:r>
              <a:rPr lang="en-US" b="1" dirty="0"/>
              <a:t>not even know the algorithm was being used</a:t>
            </a:r>
            <a:r>
              <a:rPr lang="en-US" dirty="0"/>
              <a:t> to classify them</a:t>
            </a:r>
            <a:endParaRPr dirty="0"/>
          </a:p>
          <a:p>
            <a:pPr marL="457200" lvl="0" indent="-317500" algn="l" rtl="0">
              <a:spcBef>
                <a:spcPts val="0"/>
              </a:spcBef>
              <a:spcAft>
                <a:spcPts val="0"/>
              </a:spcAft>
              <a:buSzPts val="1400"/>
              <a:buAutoNum type="arabicParenR"/>
            </a:pPr>
            <a:r>
              <a:rPr lang="en-US" dirty="0"/>
              <a:t>It is also unclear if the </a:t>
            </a:r>
            <a:r>
              <a:rPr lang="en-US" b="1" dirty="0"/>
              <a:t>data used </a:t>
            </a:r>
            <a:r>
              <a:rPr lang="en-US" dirty="0"/>
              <a:t>to train the algorithm had </a:t>
            </a:r>
            <a:r>
              <a:rPr lang="en-US" b="1" dirty="0"/>
              <a:t>this purpose disclosed to the owners</a:t>
            </a:r>
            <a:endParaRPr b="1" dirty="0"/>
          </a:p>
        </p:txBody>
      </p:sp>
      <p:sp>
        <p:nvSpPr>
          <p:cNvPr id="147" name="Google Shape;147;g2f7950ba60e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dirty="0"/>
          </a:p>
        </p:txBody>
      </p:sp>
      <p:sp>
        <p:nvSpPr>
          <p:cNvPr id="180" name="Google Shape;18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faff14bca_0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2ffaff14bca_0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ffaff14bca_0_1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r>
              <a:rPr lang="en-US"/>
              <a:t>A famous example of representation bias was reported by Dr. Buolamwini, when she realized that most commercially available face recognition algorithms </a:t>
            </a:r>
            <a:r>
              <a:rPr lang="en-US" u="sng">
                <a:solidFill>
                  <a:schemeClr val="hlink"/>
                </a:solidFill>
                <a:hlinkClick r:id="rId3"/>
              </a:rPr>
              <a:t>could not recognize her dark-skinned face</a:t>
            </a:r>
            <a:r>
              <a:rPr lang="en-US"/>
              <a:t>. This happened because the algorithm was mostly trained on a sample of white, male individuals, and performed much worse when seeing other faces.</a:t>
            </a:r>
            <a:endParaRPr/>
          </a:p>
        </p:txBody>
      </p:sp>
      <p:sp>
        <p:nvSpPr>
          <p:cNvPr id="192" name="Google Shape;192;g2ffaff14bca_0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ffaff14bca_0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2ffaff14bca_0_2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2ffaff14bca_0_2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ffaff14bca_0_2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2ffaff14bca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fff9d182e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2fff9d182e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this section, we will talk in detail about fairness issues with AI applications, bias and its sources, and how to measure fairness. Students will need to understand basic performance metrics (accuracy, how to read a confusion matrix) and the idea of algorithm training (via examples)</a:t>
            </a:r>
            <a:endParaRPr/>
          </a:p>
        </p:txBody>
      </p:sp>
      <p:sp>
        <p:nvSpPr>
          <p:cNvPr id="363" name="Google Shape;363;g2fff9d182e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2396" lvl="0" indent="0" algn="l" rtl="0">
              <a:lnSpc>
                <a:spcPct val="90000"/>
              </a:lnSpc>
              <a:spcBef>
                <a:spcPts val="600"/>
              </a:spcBef>
              <a:spcAft>
                <a:spcPts val="0"/>
              </a:spcAft>
              <a:buClr>
                <a:schemeClr val="dk1"/>
              </a:buClr>
              <a:buSzPts val="1800"/>
              <a:buFont typeface="Arial"/>
              <a:buNone/>
            </a:pPr>
            <a:r>
              <a:rPr lang="en-US" dirty="0"/>
              <a:t>This graph shows the students placement in the admission test. The +/- symbols indicate students who will complete the degree (+) and those who will not (-).</a:t>
            </a:r>
            <a:endParaRPr dirty="0"/>
          </a:p>
          <a:p>
            <a:pPr marL="152396" lvl="0" indent="0" algn="l" rtl="0">
              <a:lnSpc>
                <a:spcPct val="90000"/>
              </a:lnSpc>
              <a:spcBef>
                <a:spcPts val="600"/>
              </a:spcBef>
              <a:spcAft>
                <a:spcPts val="0"/>
              </a:spcAft>
              <a:buClr>
                <a:schemeClr val="dk1"/>
              </a:buClr>
              <a:buSzPts val="1800"/>
              <a:buFont typeface="Arial"/>
              <a:buNone/>
            </a:pPr>
            <a:r>
              <a:rPr lang="en-US" dirty="0"/>
              <a:t>The university’s goal is to minimize the number of errors (students admitted who do not graduate and students rejected that would have succeeded). Based on this population, where would you place the entry cut-off to maximize accuracy? Does that look fair?</a:t>
            </a:r>
            <a:endParaRPr dirty="0"/>
          </a:p>
          <a:p>
            <a:pPr marL="158750" lvl="0" indent="0" algn="l" rtl="0">
              <a:lnSpc>
                <a:spcPct val="100000"/>
              </a:lnSpc>
              <a:spcBef>
                <a:spcPts val="0"/>
              </a:spcBef>
              <a:spcAft>
                <a:spcPts val="0"/>
              </a:spcAft>
              <a:buClr>
                <a:schemeClr val="dk1"/>
              </a:buClr>
              <a:buSzPts val="1200"/>
              <a:buFont typeface="Calibri"/>
              <a:buNone/>
            </a:pPr>
            <a:endParaRPr dirty="0"/>
          </a:p>
          <a:p>
            <a:pPr marL="158750" lvl="0" indent="0" algn="l" rtl="0">
              <a:lnSpc>
                <a:spcPct val="100000"/>
              </a:lnSpc>
              <a:spcBef>
                <a:spcPts val="0"/>
              </a:spcBef>
              <a:spcAft>
                <a:spcPts val="0"/>
              </a:spcAft>
              <a:buClr>
                <a:schemeClr val="dk1"/>
              </a:buClr>
              <a:buSzPts val="1200"/>
              <a:buFont typeface="Calibri"/>
              <a:buNone/>
            </a:pPr>
            <a:r>
              <a:rPr lang="en-US" dirty="0"/>
              <a:t>Notice that Circles are the majority and will skew the cutoff</a:t>
            </a:r>
            <a:endParaRPr dirty="0"/>
          </a:p>
          <a:p>
            <a:pPr marL="158750" lvl="0" indent="0" algn="l" rtl="0">
              <a:lnSpc>
                <a:spcPct val="100000"/>
              </a:lnSpc>
              <a:spcBef>
                <a:spcPts val="0"/>
              </a:spcBef>
              <a:spcAft>
                <a:spcPts val="0"/>
              </a:spcAft>
              <a:buClr>
                <a:schemeClr val="dk1"/>
              </a:buClr>
              <a:buSzPts val="1200"/>
              <a:buFont typeface="Calibri"/>
              <a:buNone/>
            </a:pPr>
            <a:r>
              <a:rPr lang="en-US" dirty="0"/>
              <a:t>Optimal: 7 mistakes, 70.8% accuracy, but only 1 false negative for Circles, 5 for Squares</a:t>
            </a:r>
            <a:endParaRPr dirty="0"/>
          </a:p>
          <a:p>
            <a:pPr marL="158750" lvl="0" indent="0" algn="l" rtl="0">
              <a:lnSpc>
                <a:spcPct val="100000"/>
              </a:lnSpc>
              <a:spcBef>
                <a:spcPts val="0"/>
              </a:spcBef>
              <a:spcAft>
                <a:spcPts val="0"/>
              </a:spcAft>
              <a:buClr>
                <a:schemeClr val="dk1"/>
              </a:buClr>
              <a:buSzPts val="1200"/>
              <a:buFont typeface="Calibri"/>
              <a:buNone/>
            </a:pPr>
            <a:r>
              <a:rPr lang="en-US" dirty="0"/>
              <a:t>More fair: 8 mistakes, 1 false negative for Circles, 3 for Squares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Question for the audience: What kind of bias are we dealing with in this example? </a:t>
            </a:r>
            <a:endParaRPr dirty="0"/>
          </a:p>
          <a:p>
            <a:pPr marL="0" lvl="0" indent="0" algn="l" rtl="0">
              <a:lnSpc>
                <a:spcPct val="100000"/>
              </a:lnSpc>
              <a:spcBef>
                <a:spcPts val="0"/>
              </a:spcBef>
              <a:spcAft>
                <a:spcPts val="0"/>
              </a:spcAft>
              <a:buSzPts val="1400"/>
              <a:buNone/>
            </a:pPr>
            <a:r>
              <a:rPr lang="en-US" dirty="0"/>
              <a:t>Answer: </a:t>
            </a:r>
            <a:r>
              <a:rPr lang="en-US" b="1" dirty="0"/>
              <a:t>historical bias</a:t>
            </a:r>
            <a:endParaRPr b="1" dirty="0"/>
          </a:p>
        </p:txBody>
      </p:sp>
      <p:sp>
        <p:nvSpPr>
          <p:cNvPr id="431" name="Google Shape;4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ffaff14bca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g2ffaff14bca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dirty="0"/>
              <a:t>Unlike accuracy, </a:t>
            </a:r>
            <a:r>
              <a:rPr lang="en-US" b="1" dirty="0"/>
              <a:t>fairness</a:t>
            </a:r>
            <a:r>
              <a:rPr lang="en-US" dirty="0"/>
              <a:t> has </a:t>
            </a:r>
            <a:r>
              <a:rPr lang="en-US" b="1" dirty="0"/>
              <a:t>many mathematical definitions</a:t>
            </a:r>
            <a:r>
              <a:rPr lang="en-US" dirty="0"/>
              <a:t>.</a:t>
            </a:r>
            <a:endParaRPr dirty="0"/>
          </a:p>
          <a:p>
            <a:pPr marL="0" lvl="0" indent="0" algn="l" rtl="0">
              <a:lnSpc>
                <a:spcPct val="90000"/>
              </a:lnSpc>
              <a:spcBef>
                <a:spcPts val="0"/>
              </a:spcBef>
              <a:spcAft>
                <a:spcPts val="0"/>
              </a:spcAft>
              <a:buNone/>
            </a:pPr>
            <a:r>
              <a:rPr lang="en-US" dirty="0"/>
              <a:t>They all try to balance outcomes across protected groups.</a:t>
            </a:r>
            <a:endParaRPr dirty="0"/>
          </a:p>
          <a:p>
            <a:pPr marL="0" lvl="0" indent="0" algn="l" rtl="0">
              <a:lnSpc>
                <a:spcPct val="90000"/>
              </a:lnSpc>
              <a:spcBef>
                <a:spcPts val="0"/>
              </a:spcBef>
              <a:spcAft>
                <a:spcPts val="0"/>
              </a:spcAft>
              <a:buNone/>
            </a:pPr>
            <a:r>
              <a:rPr lang="en-US" dirty="0"/>
              <a:t>You must choose the right one(s) for the application.</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There are actually more (you can read </a:t>
            </a:r>
            <a:r>
              <a:rPr lang="en-US" u="sng" dirty="0">
                <a:hlinkClick r:id="rId3"/>
              </a:rPr>
              <a:t>this paper</a:t>
            </a:r>
            <a:r>
              <a:rPr lang="en-US" dirty="0"/>
              <a:t> by Verma and Rubin for an overview)</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dirty="0"/>
              <a:t>In the attached worksheet, students will work from the definition to a formula for each fairness metric (that is why they are not given here)</a:t>
            </a:r>
            <a:endParaRPr dirty="0"/>
          </a:p>
        </p:txBody>
      </p:sp>
      <p:sp>
        <p:nvSpPr>
          <p:cNvPr id="459" name="Google Shape;45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ffaff14bca_0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ffaff14bca_0_3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2ffaff14bca_0_3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extLst>
      <p:ext uri="{BB962C8B-B14F-4D97-AF65-F5344CB8AC3E}">
        <p14:creationId xmlns:p14="http://schemas.microsoft.com/office/powerpoint/2010/main" val="3567116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ffaff14bca_0_3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ffaff14bca_0_3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Reflection question for the audience: is it always worth it to increase the energy demand by 30-50% for a 1% improvement in accuracy?</a:t>
            </a:r>
            <a:endParaRPr/>
          </a:p>
        </p:txBody>
      </p:sp>
      <p:sp>
        <p:nvSpPr>
          <p:cNvPr id="166" name="Google Shape;166;g2ffaff14bca_0_3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extLst>
      <p:ext uri="{BB962C8B-B14F-4D97-AF65-F5344CB8AC3E}">
        <p14:creationId xmlns:p14="http://schemas.microsoft.com/office/powerpoint/2010/main" val="572669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0733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2133"/>
              </a:spcBef>
              <a:spcAft>
                <a:spcPts val="0"/>
              </a:spcAft>
              <a:buClr>
                <a:schemeClr val="dk1"/>
              </a:buClr>
              <a:buSzPts val="1400"/>
              <a:buChar char="○"/>
              <a:defRPr/>
            </a:lvl2pPr>
            <a:lvl3pPr marL="1371600" lvl="2" indent="-317500" algn="l">
              <a:lnSpc>
                <a:spcPct val="90000"/>
              </a:lnSpc>
              <a:spcBef>
                <a:spcPts val="2133"/>
              </a:spcBef>
              <a:spcAft>
                <a:spcPts val="0"/>
              </a:spcAft>
              <a:buClr>
                <a:schemeClr val="dk1"/>
              </a:buClr>
              <a:buSzPts val="1400"/>
              <a:buChar char="■"/>
              <a:defRPr/>
            </a:lvl3pPr>
            <a:lvl4pPr marL="1828800" lvl="3" indent="-317500" algn="l">
              <a:lnSpc>
                <a:spcPct val="90000"/>
              </a:lnSpc>
              <a:spcBef>
                <a:spcPts val="2133"/>
              </a:spcBef>
              <a:spcAft>
                <a:spcPts val="0"/>
              </a:spcAft>
              <a:buClr>
                <a:schemeClr val="dk1"/>
              </a:buClr>
              <a:buSzPts val="1400"/>
              <a:buChar char="●"/>
              <a:defRPr/>
            </a:lvl4pPr>
            <a:lvl5pPr marL="2286000" lvl="4" indent="-317500" algn="l">
              <a:lnSpc>
                <a:spcPct val="90000"/>
              </a:lnSpc>
              <a:spcBef>
                <a:spcPts val="2133"/>
              </a:spcBef>
              <a:spcAft>
                <a:spcPts val="0"/>
              </a:spcAft>
              <a:buClr>
                <a:schemeClr val="dk1"/>
              </a:buClr>
              <a:buSzPts val="1400"/>
              <a:buChar char="○"/>
              <a:defRPr/>
            </a:lvl5pPr>
            <a:lvl6pPr marL="2743200" lvl="5" indent="-317500" algn="l">
              <a:lnSpc>
                <a:spcPct val="90000"/>
              </a:lnSpc>
              <a:spcBef>
                <a:spcPts val="2133"/>
              </a:spcBef>
              <a:spcAft>
                <a:spcPts val="0"/>
              </a:spcAft>
              <a:buClr>
                <a:schemeClr val="dk1"/>
              </a:buClr>
              <a:buSzPts val="1400"/>
              <a:buChar char="■"/>
              <a:defRPr/>
            </a:lvl6pPr>
            <a:lvl7pPr marL="3200400" lvl="6" indent="-317500" algn="l">
              <a:lnSpc>
                <a:spcPct val="90000"/>
              </a:lnSpc>
              <a:spcBef>
                <a:spcPts val="2133"/>
              </a:spcBef>
              <a:spcAft>
                <a:spcPts val="0"/>
              </a:spcAft>
              <a:buClr>
                <a:schemeClr val="dk1"/>
              </a:buClr>
              <a:buSzPts val="1400"/>
              <a:buChar char="●"/>
              <a:defRPr/>
            </a:lvl7pPr>
            <a:lvl8pPr marL="3657600" lvl="7" indent="-317500" algn="l">
              <a:lnSpc>
                <a:spcPct val="90000"/>
              </a:lnSpc>
              <a:spcBef>
                <a:spcPts val="2133"/>
              </a:spcBef>
              <a:spcAft>
                <a:spcPts val="0"/>
              </a:spcAft>
              <a:buClr>
                <a:schemeClr val="dk1"/>
              </a:buClr>
              <a:buSzPts val="1400"/>
              <a:buChar char="○"/>
              <a:defRPr/>
            </a:lvl8pPr>
            <a:lvl9pPr marL="4114800" lvl="8" indent="-317500" algn="l">
              <a:lnSpc>
                <a:spcPct val="90000"/>
              </a:lnSpc>
              <a:spcBef>
                <a:spcPts val="2133"/>
              </a:spcBef>
              <a:spcAft>
                <a:spcPts val="2133"/>
              </a:spcAft>
              <a:buClr>
                <a:schemeClr val="dk1"/>
              </a:buClr>
              <a:buSzPts val="1400"/>
              <a:buChar char="■"/>
              <a:defRPr/>
            </a:lvl9pPr>
          </a:lstStyle>
          <a:p>
            <a:endParaRPr/>
          </a:p>
        </p:txBody>
      </p:sp>
      <p:sp>
        <p:nvSpPr>
          <p:cNvPr id="43" name="Google Shape;43;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7"/>
          <p:cNvSpPr>
            <a:spLocks noGrp="1"/>
          </p:cNvSpPr>
          <p:nvPr>
            <p:ph type="pic" idx="2"/>
          </p:nvPr>
        </p:nvSpPr>
        <p:spPr>
          <a:xfrm>
            <a:off x="5183188" y="987425"/>
            <a:ext cx="6172200" cy="4873625"/>
          </a:xfrm>
          <a:prstGeom prst="rect">
            <a:avLst/>
          </a:prstGeom>
          <a:noFill/>
          <a:ln>
            <a:noFill/>
          </a:ln>
        </p:spPr>
      </p:sp>
      <p:sp>
        <p:nvSpPr>
          <p:cNvPr id="72" name="Google Shape;72;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atgp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canva.com/ai-image-generator/"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www.reuters.com/article/us-amazon-com-jobs-automation-insight-idUSKCN1MK08G/"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www.theguardian.com/technology/2022/oct/27/live-facial-recognition-police-study-uk" TargetMode="External"/><Relationship Id="rId5" Type="http://schemas.openxmlformats.org/officeDocument/2006/relationships/image" Target="../media/image4.png"/><Relationship Id="rId4" Type="http://schemas.openxmlformats.org/officeDocument/2006/relationships/hyperlink" Target="https://sitn.hms.harvard.edu/flash/2020/racial-discrimination-in-face-recognition-technolog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arstechnica.com/cars/2019/05/feds-autopilot-was-active-during-deadly-march-tesla-crash/"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onlinelibrary.wiley.com/doi/full/10.1111/puar.13483"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www.ted.com/talks/joy_buolamwini_how_i_m_fighting_bias_in_algorithms?utm_campaign=tedspread&amp;utm_medium=referral&amp;utm_source=tedcomshare"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dl.acm.org/doi/pdf/10.1145/3194770.3194776"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arbon-direct.com/insights/understanding-the-carbon-footprint-of-ai-and-how-to-reduce-it"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dl.acm.org/doi/pdf/10.1145/3603746"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www.lawfaremedia.org/article/ai-might-let-you-die-to-save-itself"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www.anthropic.com/research/agentic-misalign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Introduction to AI, fairness and bias</a:t>
            </a:r>
            <a:endParaRPr/>
          </a:p>
        </p:txBody>
      </p:sp>
      <p:sp>
        <p:nvSpPr>
          <p:cNvPr id="93" name="Google Shape;93;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dirty="0"/>
          </a:p>
          <a:p>
            <a:pPr marL="0" lvl="0" indent="0" algn="ctr" rtl="0">
              <a:lnSpc>
                <a:spcPct val="90000"/>
              </a:lnSpc>
              <a:spcBef>
                <a:spcPts val="0"/>
              </a:spcBef>
              <a:spcAft>
                <a:spcPts val="0"/>
              </a:spcAft>
              <a:buClr>
                <a:schemeClr val="dk1"/>
              </a:buClr>
              <a:buSzPts val="2400"/>
              <a:buNone/>
            </a:pPr>
            <a:r>
              <a:rPr lang="en-US" dirty="0"/>
              <a:t>The pictures in these slides were generated using </a:t>
            </a:r>
            <a:r>
              <a:rPr lang="en-US" u="sng" dirty="0">
                <a:solidFill>
                  <a:schemeClr val="hlink"/>
                </a:solidFill>
                <a:hlinkClick r:id="rId3"/>
              </a:rPr>
              <a:t>ChatGTP</a:t>
            </a:r>
            <a:r>
              <a:rPr lang="en-US" dirty="0"/>
              <a:t> and </a:t>
            </a:r>
            <a:r>
              <a:rPr lang="en-US" u="sng" dirty="0">
                <a:solidFill>
                  <a:schemeClr val="hlink"/>
                </a:solidFill>
                <a:hlinkClick r:id="rId4"/>
              </a:rPr>
              <a:t>Canva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AI - Introduction</a:t>
            </a:r>
            <a:endParaRPr/>
          </a:p>
        </p:txBody>
      </p:sp>
      <p:sp>
        <p:nvSpPr>
          <p:cNvPr id="100" name="Google Shape;100;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838200" y="12779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Artificial Intelligence around us</a:t>
            </a:r>
            <a:endParaRPr/>
          </a:p>
        </p:txBody>
      </p:sp>
      <p:sp>
        <p:nvSpPr>
          <p:cNvPr id="106" name="Google Shape;106;p3"/>
          <p:cNvSpPr txBox="1">
            <a:spLocks noGrp="1"/>
          </p:cNvSpPr>
          <p:nvPr>
            <p:ph type="body" idx="1"/>
          </p:nvPr>
        </p:nvSpPr>
        <p:spPr>
          <a:xfrm>
            <a:off x="838200" y="1475581"/>
            <a:ext cx="66040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dirty="0"/>
              <a:t>Artificial Intelligence refers to technological applications designed to </a:t>
            </a:r>
            <a:r>
              <a:rPr lang="en-US" b="1" dirty="0"/>
              <a:t>simulate intelligence</a:t>
            </a:r>
            <a:r>
              <a:rPr lang="en-US" dirty="0"/>
              <a:t>, such as the ability to </a:t>
            </a:r>
            <a:r>
              <a:rPr lang="en-US" b="1" dirty="0"/>
              <a:t>learn, take decisions, and interact</a:t>
            </a:r>
            <a:r>
              <a:rPr lang="en-US" dirty="0"/>
              <a:t> with surrounding environments</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r>
              <a:rPr lang="en-US" dirty="0"/>
              <a:t>AI applications around us include:</a:t>
            </a:r>
            <a:endParaRPr dirty="0"/>
          </a:p>
          <a:p>
            <a:pPr marL="228600" lvl="0" indent="-228600" algn="l" rtl="0">
              <a:lnSpc>
                <a:spcPct val="90000"/>
              </a:lnSpc>
              <a:spcBef>
                <a:spcPts val="1000"/>
              </a:spcBef>
              <a:spcAft>
                <a:spcPts val="0"/>
              </a:spcAft>
              <a:buClr>
                <a:schemeClr val="dk1"/>
              </a:buClr>
              <a:buSzPct val="100000"/>
              <a:buChar char="•"/>
            </a:pPr>
            <a:r>
              <a:rPr lang="en-US" dirty="0"/>
              <a:t>Recommendation Systems (YouTube, Instagram…)</a:t>
            </a:r>
            <a:endParaRPr dirty="0"/>
          </a:p>
          <a:p>
            <a:pPr marL="228600" lvl="0" indent="-228600" algn="l" rtl="0">
              <a:lnSpc>
                <a:spcPct val="90000"/>
              </a:lnSpc>
              <a:spcBef>
                <a:spcPts val="1000"/>
              </a:spcBef>
              <a:spcAft>
                <a:spcPts val="0"/>
              </a:spcAft>
              <a:buClr>
                <a:schemeClr val="dk1"/>
              </a:buClr>
              <a:buSzPct val="100000"/>
              <a:buChar char="•"/>
            </a:pPr>
            <a:r>
              <a:rPr lang="en-US" dirty="0"/>
              <a:t>Virtual Assistants (Alexa, Siri…)</a:t>
            </a:r>
            <a:endParaRPr dirty="0"/>
          </a:p>
          <a:p>
            <a:pPr marL="228600" lvl="0" indent="-228600" algn="l" rtl="0">
              <a:lnSpc>
                <a:spcPct val="90000"/>
              </a:lnSpc>
              <a:spcBef>
                <a:spcPts val="1000"/>
              </a:spcBef>
              <a:spcAft>
                <a:spcPts val="0"/>
              </a:spcAft>
              <a:buClr>
                <a:schemeClr val="dk1"/>
              </a:buClr>
              <a:buSzPct val="100000"/>
              <a:buChar char="•"/>
            </a:pPr>
            <a:r>
              <a:rPr lang="en-US" dirty="0"/>
              <a:t>Generative algorithms (</a:t>
            </a:r>
            <a:r>
              <a:rPr lang="en-US" dirty="0" err="1"/>
              <a:t>ChatGPT</a:t>
            </a:r>
            <a:r>
              <a:rPr lang="en-US" dirty="0"/>
              <a:t>, Dall-E…)</a:t>
            </a:r>
            <a:endParaRPr dirty="0"/>
          </a:p>
          <a:p>
            <a:pPr marL="228600" lvl="0" indent="-228600" algn="l" rtl="0">
              <a:lnSpc>
                <a:spcPct val="90000"/>
              </a:lnSpc>
              <a:spcBef>
                <a:spcPts val="1000"/>
              </a:spcBef>
              <a:spcAft>
                <a:spcPts val="0"/>
              </a:spcAft>
              <a:buClr>
                <a:schemeClr val="dk1"/>
              </a:buClr>
              <a:buSzPct val="100000"/>
              <a:buChar char="•"/>
            </a:pPr>
            <a:r>
              <a:rPr lang="en-US" dirty="0"/>
              <a:t>Autonomous vehicles</a:t>
            </a:r>
            <a:endParaRPr dirty="0"/>
          </a:p>
          <a:p>
            <a:pPr marL="228600" lvl="0" indent="-228600" algn="l" rtl="0">
              <a:lnSpc>
                <a:spcPct val="90000"/>
              </a:lnSpc>
              <a:spcBef>
                <a:spcPts val="1000"/>
              </a:spcBef>
              <a:spcAft>
                <a:spcPts val="0"/>
              </a:spcAft>
              <a:buClr>
                <a:schemeClr val="dk1"/>
              </a:buClr>
              <a:buSzPct val="100000"/>
              <a:buChar char="•"/>
            </a:pPr>
            <a:r>
              <a:rPr lang="en-US" dirty="0"/>
              <a:t>Playing agents (Chess, Go, various videogames…)</a:t>
            </a:r>
            <a:endParaRPr dirty="0"/>
          </a:p>
        </p:txBody>
      </p:sp>
      <p:pic>
        <p:nvPicPr>
          <p:cNvPr id="107" name="Google Shape;107;p3"/>
          <p:cNvPicPr preferRelativeResize="0"/>
          <p:nvPr/>
        </p:nvPicPr>
        <p:blipFill rotWithShape="1">
          <a:blip r:embed="rId3">
            <a:alphaModFix/>
          </a:blip>
          <a:srcRect/>
          <a:stretch/>
        </p:blipFill>
        <p:spPr>
          <a:xfrm>
            <a:off x="7442200" y="1594644"/>
            <a:ext cx="4241800" cy="4241800"/>
          </a:xfrm>
          <a:prstGeom prst="rect">
            <a:avLst/>
          </a:prstGeom>
          <a:noFill/>
          <a:ln>
            <a:noFill/>
          </a:ln>
        </p:spPr>
      </p:pic>
      <p:sp>
        <p:nvSpPr>
          <p:cNvPr id="108" name="Google Shape;108;p3"/>
          <p:cNvSpPr txBox="1"/>
          <p:nvPr/>
        </p:nvSpPr>
        <p:spPr>
          <a:xfrm>
            <a:off x="5715000" y="5945982"/>
            <a:ext cx="6388100"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600"/>
              <a:buFont typeface="Arial"/>
              <a:buNone/>
            </a:pPr>
            <a:r>
              <a:rPr lang="en-US" sz="1600" b="0" i="1" u="none" strike="noStrike" cap="none">
                <a:solidFill>
                  <a:srgbClr val="BF9000"/>
                </a:solidFill>
                <a:latin typeface="Calibri"/>
                <a:ea typeface="Calibri"/>
                <a:cs typeface="Calibri"/>
                <a:sym typeface="Calibri"/>
              </a:rPr>
              <a:t>Did you know that the best chess player in the world is a computer program called Stockfish? Its rating (a measure of chess proficiency) is more than 3600. The best ever human player’s rating is less than 2900.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ffaff14bca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 real scenario </a:t>
            </a:r>
            <a:endParaRPr/>
          </a:p>
        </p:txBody>
      </p:sp>
      <p:sp>
        <p:nvSpPr>
          <p:cNvPr id="115" name="Google Shape;115;g2ffaff14bca_0_0"/>
          <p:cNvSpPr txBox="1">
            <a:spLocks noGrp="1"/>
          </p:cNvSpPr>
          <p:nvPr>
            <p:ph type="body" idx="1"/>
          </p:nvPr>
        </p:nvSpPr>
        <p:spPr>
          <a:xfrm>
            <a:off x="838200" y="1429703"/>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dirty="0"/>
              <a:t>In 2014, a team at Amazon started working on an algorithm that would </a:t>
            </a:r>
            <a:r>
              <a:rPr lang="en-US" b="1" dirty="0"/>
              <a:t>automatically rank candidates</a:t>
            </a:r>
            <a:r>
              <a:rPr lang="en-US" dirty="0"/>
              <a:t> for hiring</a:t>
            </a:r>
            <a:endParaRPr dirty="0"/>
          </a:p>
          <a:p>
            <a:pPr marL="457200" lvl="0" indent="-342900" algn="l" rtl="0">
              <a:spcBef>
                <a:spcPts val="0"/>
              </a:spcBef>
              <a:spcAft>
                <a:spcPts val="0"/>
              </a:spcAft>
              <a:buSzPts val="1800"/>
              <a:buChar char="•"/>
            </a:pPr>
            <a:r>
              <a:rPr lang="en-US" dirty="0"/>
              <a:t>Advantage: Amazon receives a lot of applications and it has an interest in identifying the best candidates quickly and effectively</a:t>
            </a:r>
            <a:endParaRPr dirty="0"/>
          </a:p>
          <a:p>
            <a:pPr marL="457200" lvl="0" indent="-342900" algn="l" rtl="0">
              <a:spcBef>
                <a:spcPts val="0"/>
              </a:spcBef>
              <a:spcAft>
                <a:spcPts val="0"/>
              </a:spcAft>
              <a:buSzPts val="1800"/>
              <a:buChar char="•"/>
            </a:pPr>
            <a:r>
              <a:rPr lang="en-US" dirty="0"/>
              <a:t>But…</a:t>
            </a:r>
            <a:endParaRPr dirty="0"/>
          </a:p>
        </p:txBody>
      </p:sp>
      <p:pic>
        <p:nvPicPr>
          <p:cNvPr id="116" name="Google Shape;116;g2ffaff14bca_0_0"/>
          <p:cNvPicPr preferRelativeResize="0"/>
          <p:nvPr/>
        </p:nvPicPr>
        <p:blipFill>
          <a:blip r:embed="rId3">
            <a:alphaModFix/>
          </a:blip>
          <a:stretch>
            <a:fillRect/>
          </a:stretch>
        </p:blipFill>
        <p:spPr>
          <a:xfrm>
            <a:off x="2080365" y="3479674"/>
            <a:ext cx="8600203" cy="2586473"/>
          </a:xfrm>
          <a:prstGeom prst="rect">
            <a:avLst/>
          </a:prstGeom>
          <a:noFill/>
          <a:ln>
            <a:noFill/>
          </a:ln>
        </p:spPr>
      </p:pic>
      <p:sp>
        <p:nvSpPr>
          <p:cNvPr id="117" name="Google Shape;117;g2ffaff14bca_0_0"/>
          <p:cNvSpPr txBox="1"/>
          <p:nvPr/>
        </p:nvSpPr>
        <p:spPr>
          <a:xfrm>
            <a:off x="4377800" y="6425225"/>
            <a:ext cx="7673700" cy="31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https://www.reuters.com/article/us-amazon-com-jobs-automation-insight-idUSKCN1MK08G/</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9" name="TextBox 8">
            <a:extLst>
              <a:ext uri="{FF2B5EF4-FFF2-40B4-BE49-F238E27FC236}">
                <a16:creationId xmlns:a16="http://schemas.microsoft.com/office/drawing/2014/main" id="{B05FA49F-B9BC-4F96-9305-515E57D3BB60}"/>
              </a:ext>
            </a:extLst>
          </p:cNvPr>
          <p:cNvSpPr txBox="1"/>
          <p:nvPr/>
        </p:nvSpPr>
        <p:spPr>
          <a:xfrm>
            <a:off x="838186" y="5932294"/>
            <a:ext cx="10323150" cy="461665"/>
          </a:xfrm>
          <a:prstGeom prst="rect">
            <a:avLst/>
          </a:prstGeom>
          <a:noFill/>
        </p:spPr>
        <p:txBody>
          <a:bodyPr wrap="square">
            <a:spAutoFit/>
          </a:bodyPr>
          <a:lstStyle/>
          <a:p>
            <a:pPr marL="285750" indent="-285750">
              <a:buFont typeface="Arial" panose="020B0604020202020204" pitchFamily="34" charset="0"/>
              <a:buChar char="•"/>
            </a:pPr>
            <a:r>
              <a:rPr lang="en-US" sz="2400" dirty="0"/>
              <a:t>After some attempts to fix this, the project was abandoned in 2017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1000"/>
                                        <p:tgtEl>
                                          <p:spTgt spid="116"/>
                                        </p:tgtEl>
                                        <p:attrNameLst>
                                          <p:attrName>ppt_w</p:attrName>
                                        </p:attrNameLst>
                                      </p:cBhvr>
                                      <p:tavLst>
                                        <p:tav tm="0">
                                          <p:val>
                                            <p:strVal val="0"/>
                                          </p:val>
                                        </p:tav>
                                        <p:tav tm="100000">
                                          <p:val>
                                            <p:strVal val="#ppt_w"/>
                                          </p:val>
                                        </p:tav>
                                      </p:tavLst>
                                    </p:anim>
                                    <p:anim calcmode="lin" valueType="num">
                                      <p:cBhvr additive="base">
                                        <p:cTn id="8" dur="1000"/>
                                        <p:tgtEl>
                                          <p:spTgt spid="11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2ffaff14bca_0_1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under scrutiny</a:t>
            </a:r>
            <a:endParaRPr/>
          </a:p>
        </p:txBody>
      </p:sp>
      <p:sp>
        <p:nvSpPr>
          <p:cNvPr id="124" name="Google Shape;124;g2ffaff14bca_0_1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t>Today, there is a call for increased attention toward </a:t>
            </a:r>
            <a:r>
              <a:rPr lang="en-US" b="1" dirty="0"/>
              <a:t>responsible use of AI</a:t>
            </a:r>
            <a:r>
              <a:rPr lang="en-US" dirty="0"/>
              <a:t> applications, including a focus on aspects such as:</a:t>
            </a:r>
            <a:endParaRPr dirty="0"/>
          </a:p>
          <a:p>
            <a:pPr marL="457200" lvl="0" indent="-342900" algn="l" rtl="0">
              <a:spcBef>
                <a:spcPts val="1000"/>
              </a:spcBef>
              <a:spcAft>
                <a:spcPts val="0"/>
              </a:spcAft>
              <a:buSzPts val="1800"/>
              <a:buChar char="•"/>
            </a:pPr>
            <a:r>
              <a:rPr lang="en-US" b="1" dirty="0"/>
              <a:t>Fairness: </a:t>
            </a:r>
            <a:r>
              <a:rPr lang="en-US" dirty="0"/>
              <a:t>the idea that outcomes of an AI application must be equitable, i.e., </a:t>
            </a:r>
            <a:r>
              <a:rPr lang="en-US" i="1" dirty="0"/>
              <a:t>no group</a:t>
            </a:r>
            <a:r>
              <a:rPr lang="en-US" dirty="0"/>
              <a:t> should be discriminated against/receive a </a:t>
            </a:r>
            <a:r>
              <a:rPr lang="en-US" i="1" dirty="0"/>
              <a:t>different treatment</a:t>
            </a:r>
            <a:endParaRPr i="1" dirty="0"/>
          </a:p>
          <a:p>
            <a:pPr marL="457200" lvl="0" indent="-342900" algn="l" rtl="0">
              <a:spcBef>
                <a:spcPts val="0"/>
              </a:spcBef>
              <a:spcAft>
                <a:spcPts val="0"/>
              </a:spcAft>
              <a:buSzPts val="1800"/>
              <a:buChar char="•"/>
            </a:pPr>
            <a:r>
              <a:rPr lang="en-US" b="1" dirty="0"/>
              <a:t>Accountability: </a:t>
            </a:r>
            <a:r>
              <a:rPr lang="en-US" dirty="0"/>
              <a:t>clearly </a:t>
            </a:r>
            <a:r>
              <a:rPr lang="en-US" i="1" dirty="0"/>
              <a:t>identify people responsible</a:t>
            </a:r>
            <a:r>
              <a:rPr lang="en-US" b="1" dirty="0"/>
              <a:t> </a:t>
            </a:r>
            <a:r>
              <a:rPr lang="en-US" dirty="0"/>
              <a:t>for the outcomes and derived consequences</a:t>
            </a:r>
            <a:endParaRPr dirty="0"/>
          </a:p>
          <a:p>
            <a:pPr marL="457200" lvl="0" indent="-342900" algn="l" rtl="0">
              <a:spcBef>
                <a:spcPts val="0"/>
              </a:spcBef>
              <a:spcAft>
                <a:spcPts val="0"/>
              </a:spcAft>
              <a:buSzPts val="1800"/>
              <a:buChar char="•"/>
            </a:pPr>
            <a:r>
              <a:rPr lang="en-US" b="1" dirty="0"/>
              <a:t>Transparency:</a:t>
            </a:r>
            <a:r>
              <a:rPr lang="en-US" dirty="0"/>
              <a:t> the ability to </a:t>
            </a:r>
            <a:r>
              <a:rPr lang="en-US" i="1" dirty="0"/>
              <a:t>explain outcomes and decisions</a:t>
            </a:r>
            <a:r>
              <a:rPr lang="en-US" dirty="0"/>
              <a:t>, as well as transparency in </a:t>
            </a:r>
            <a:r>
              <a:rPr lang="en-US" i="1" dirty="0"/>
              <a:t>data</a:t>
            </a:r>
            <a:r>
              <a:rPr lang="en-US" dirty="0"/>
              <a:t> acquisition and provenance</a:t>
            </a:r>
            <a:endParaRPr dirty="0"/>
          </a:p>
          <a:p>
            <a:pPr marL="0" lvl="0" indent="0" algn="l" rtl="0">
              <a:spcBef>
                <a:spcPts val="1000"/>
              </a:spcBef>
              <a:spcAft>
                <a:spcPts val="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ffaff14bca_0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fairness</a:t>
            </a:r>
            <a:endParaRPr/>
          </a:p>
        </p:txBody>
      </p:sp>
      <p:pic>
        <p:nvPicPr>
          <p:cNvPr id="131" name="Google Shape;131;g2ffaff14bca_0_19"/>
          <p:cNvPicPr preferRelativeResize="0"/>
          <p:nvPr/>
        </p:nvPicPr>
        <p:blipFill>
          <a:blip r:embed="rId3">
            <a:alphaModFix/>
          </a:blip>
          <a:stretch>
            <a:fillRect/>
          </a:stretch>
        </p:blipFill>
        <p:spPr>
          <a:xfrm>
            <a:off x="407850" y="2180850"/>
            <a:ext cx="6620475" cy="2861975"/>
          </a:xfrm>
          <a:prstGeom prst="rect">
            <a:avLst/>
          </a:prstGeom>
          <a:noFill/>
          <a:ln>
            <a:noFill/>
          </a:ln>
        </p:spPr>
      </p:pic>
      <p:sp>
        <p:nvSpPr>
          <p:cNvPr id="132" name="Google Shape;132;g2ffaff14bca_0_19"/>
          <p:cNvSpPr txBox="1"/>
          <p:nvPr/>
        </p:nvSpPr>
        <p:spPr>
          <a:xfrm>
            <a:off x="560250" y="4929450"/>
            <a:ext cx="6318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4"/>
              </a:rPr>
              <a:t>https://sitn.hms.harvard.edu/flash/2020/racial-discrimination-in-face-recognition-technology/</a:t>
            </a:r>
            <a:r>
              <a:rPr lang="en-US">
                <a:solidFill>
                  <a:srgbClr val="FFFFFF"/>
                </a:solidFill>
              </a:rPr>
              <a:t> </a:t>
            </a:r>
            <a:endParaRPr/>
          </a:p>
        </p:txBody>
      </p:sp>
      <p:pic>
        <p:nvPicPr>
          <p:cNvPr id="133" name="Google Shape;133;g2ffaff14bca_0_19"/>
          <p:cNvPicPr preferRelativeResize="0"/>
          <p:nvPr/>
        </p:nvPicPr>
        <p:blipFill>
          <a:blip r:embed="rId5">
            <a:alphaModFix/>
          </a:blip>
          <a:stretch>
            <a:fillRect/>
          </a:stretch>
        </p:blipFill>
        <p:spPr>
          <a:xfrm>
            <a:off x="7445250" y="1690825"/>
            <a:ext cx="4286124" cy="3936476"/>
          </a:xfrm>
          <a:prstGeom prst="rect">
            <a:avLst/>
          </a:prstGeom>
          <a:noFill/>
          <a:ln>
            <a:noFill/>
          </a:ln>
        </p:spPr>
      </p:pic>
      <p:sp>
        <p:nvSpPr>
          <p:cNvPr id="134" name="Google Shape;134;g2ffaff14bca_0_19"/>
          <p:cNvSpPr txBox="1"/>
          <p:nvPr/>
        </p:nvSpPr>
        <p:spPr>
          <a:xfrm>
            <a:off x="7445263" y="5627300"/>
            <a:ext cx="4286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Source: </a:t>
            </a:r>
            <a:r>
              <a:rPr lang="en-US" u="sng">
                <a:solidFill>
                  <a:schemeClr val="hlink"/>
                </a:solidFill>
                <a:hlinkClick r:id="rId6"/>
              </a:rPr>
              <a:t>https://www.theguardian.com/technology/2022/oct/27/live-facial-recognition-police-study-uk</a:t>
            </a:r>
            <a:r>
              <a:rPr lang="en-US">
                <a:solidFill>
                  <a:srgbClr val="FFFFFF"/>
                </a:solidFil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2ffaff14bca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More examples: accountability</a:t>
            </a:r>
            <a:endParaRPr/>
          </a:p>
        </p:txBody>
      </p:sp>
      <p:sp>
        <p:nvSpPr>
          <p:cNvPr id="141" name="Google Shape;141;g2ffaff14bca_0_31"/>
          <p:cNvSpPr txBox="1">
            <a:spLocks noGrp="1"/>
          </p:cNvSpPr>
          <p:nvPr>
            <p:ph type="body" idx="1"/>
          </p:nvPr>
        </p:nvSpPr>
        <p:spPr>
          <a:xfrm>
            <a:off x="838200" y="1825625"/>
            <a:ext cx="10515600" cy="46290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When technologies are involved, it is more difficult to pinpoint who is responsible when accidents happen.</a:t>
            </a: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r>
              <a:rPr lang="en-US"/>
              <a:t>This is a legislative gap. Unfortunately, technology move at a much faster pace than the law, so these episodes are not infrequent.</a:t>
            </a:r>
            <a:endParaRPr/>
          </a:p>
        </p:txBody>
      </p:sp>
      <p:pic>
        <p:nvPicPr>
          <p:cNvPr id="142" name="Google Shape;142;g2ffaff14bca_0_31"/>
          <p:cNvPicPr preferRelativeResize="0"/>
          <p:nvPr/>
        </p:nvPicPr>
        <p:blipFill>
          <a:blip r:embed="rId3">
            <a:alphaModFix/>
          </a:blip>
          <a:stretch>
            <a:fillRect/>
          </a:stretch>
        </p:blipFill>
        <p:spPr>
          <a:xfrm>
            <a:off x="1276350" y="2772500"/>
            <a:ext cx="9639300" cy="2457450"/>
          </a:xfrm>
          <a:prstGeom prst="rect">
            <a:avLst/>
          </a:prstGeom>
          <a:noFill/>
          <a:ln>
            <a:noFill/>
          </a:ln>
        </p:spPr>
      </p:pic>
      <p:sp>
        <p:nvSpPr>
          <p:cNvPr id="143" name="Google Shape;143;g2ffaff14bca_0_31"/>
          <p:cNvSpPr txBox="1"/>
          <p:nvPr/>
        </p:nvSpPr>
        <p:spPr>
          <a:xfrm>
            <a:off x="2570625" y="6311625"/>
            <a:ext cx="99441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a:solidFill>
                  <a:schemeClr val="dk1"/>
                </a:solidFill>
                <a:latin typeface="Calibri"/>
                <a:ea typeface="Calibri"/>
                <a:cs typeface="Calibri"/>
                <a:sym typeface="Calibri"/>
              </a:rPr>
              <a:t>source: </a:t>
            </a:r>
            <a:r>
              <a:rPr lang="en-US" sz="1700" u="sng">
                <a:solidFill>
                  <a:schemeClr val="hlink"/>
                </a:solidFill>
                <a:latin typeface="Calibri"/>
                <a:ea typeface="Calibri"/>
                <a:cs typeface="Calibri"/>
                <a:sym typeface="Calibri"/>
                <a:hlinkClick r:id="rId4"/>
              </a:rPr>
              <a:t>https://arstechnica.com/cars/2019/05/feds-autopilot-was-active-during-deadly-march-tesla-crash/</a:t>
            </a:r>
            <a:r>
              <a:rPr lang="en-US"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f7950ba60e_0_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800">
                <a:latin typeface="Arial"/>
                <a:ea typeface="Arial"/>
                <a:cs typeface="Arial"/>
                <a:sym typeface="Arial"/>
              </a:rPr>
              <a:t>The issue of transparency </a:t>
            </a:r>
            <a:endParaRPr/>
          </a:p>
        </p:txBody>
      </p:sp>
      <p:pic>
        <p:nvPicPr>
          <p:cNvPr id="150" name="Google Shape;150;g2f7950ba60e_0_53"/>
          <p:cNvPicPr preferRelativeResize="0"/>
          <p:nvPr/>
        </p:nvPicPr>
        <p:blipFill>
          <a:blip r:embed="rId3">
            <a:alphaModFix/>
          </a:blip>
          <a:stretch>
            <a:fillRect/>
          </a:stretch>
        </p:blipFill>
        <p:spPr>
          <a:xfrm>
            <a:off x="1594300" y="1565275"/>
            <a:ext cx="9003389" cy="4871899"/>
          </a:xfrm>
          <a:prstGeom prst="rect">
            <a:avLst/>
          </a:prstGeom>
          <a:noFill/>
          <a:ln>
            <a:noFill/>
          </a:ln>
        </p:spPr>
      </p:pic>
      <p:sp>
        <p:nvSpPr>
          <p:cNvPr id="151" name="Google Shape;151;g2f7950ba60e_0_53"/>
          <p:cNvSpPr/>
          <p:nvPr/>
        </p:nvSpPr>
        <p:spPr>
          <a:xfrm>
            <a:off x="2662525" y="4861100"/>
            <a:ext cx="7664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2" name="Google Shape;152;g2f7950ba60e_0_53"/>
          <p:cNvSpPr/>
          <p:nvPr/>
        </p:nvSpPr>
        <p:spPr>
          <a:xfrm>
            <a:off x="1705550" y="4533900"/>
            <a:ext cx="35388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3" name="Google Shape;153;g2f7950ba60e_0_53"/>
          <p:cNvSpPr/>
          <p:nvPr/>
        </p:nvSpPr>
        <p:spPr>
          <a:xfrm>
            <a:off x="1705550" y="5188300"/>
            <a:ext cx="6947700" cy="242100"/>
          </a:xfrm>
          <a:prstGeom prst="rect">
            <a:avLst/>
          </a:prstGeom>
          <a:solidFill>
            <a:srgbClr val="FFFF00">
              <a:alpha val="39240"/>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g2f7950ba60e_0_53"/>
          <p:cNvSpPr txBox="1"/>
          <p:nvPr/>
        </p:nvSpPr>
        <p:spPr>
          <a:xfrm>
            <a:off x="5244350" y="6437175"/>
            <a:ext cx="7431600" cy="34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source: </a:t>
            </a:r>
            <a:r>
              <a:rPr lang="en-US" sz="1900" u="sng">
                <a:solidFill>
                  <a:schemeClr val="hlink"/>
                </a:solidFill>
                <a:latin typeface="Calibri"/>
                <a:ea typeface="Calibri"/>
                <a:cs typeface="Calibri"/>
                <a:sym typeface="Calibri"/>
                <a:hlinkClick r:id="rId4"/>
              </a:rPr>
              <a:t>https://onlinelibrary.wiley.com/doi/full/10.1111/puar.13483</a:t>
            </a:r>
            <a:r>
              <a:rPr lang="en-US" sz="1900">
                <a:solidFill>
                  <a:schemeClr val="dk1"/>
                </a:solidFill>
                <a:latin typeface="Calibri"/>
                <a:ea typeface="Calibri"/>
                <a:cs typeface="Calibri"/>
                <a:sym typeface="Calibri"/>
              </a:rPr>
              <a:t> </a:t>
            </a:r>
            <a:endParaRPr sz="19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gtEl>
                                        <p:attrNameLst>
                                          <p:attrName>style.visibility</p:attrName>
                                        </p:attrNameLst>
                                      </p:cBhvr>
                                      <p:to>
                                        <p:strVal val="visible"/>
                                      </p:to>
                                    </p:set>
                                    <p:animEffect transition="in" filter="fade">
                                      <p:cBhvr>
                                        <p:cTn id="12" dur="1000"/>
                                        <p:tgtEl>
                                          <p:spTgt spid="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fade">
                                      <p:cBhvr>
                                        <p:cTn id="17"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Data Bias</a:t>
            </a:r>
            <a:endParaRPr/>
          </a:p>
        </p:txBody>
      </p:sp>
      <p:sp>
        <p:nvSpPr>
          <p:cNvPr id="183" name="Google Shape;18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2ffaff14bca_0_18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Bias in data</a:t>
            </a:r>
            <a:endParaRPr/>
          </a:p>
        </p:txBody>
      </p:sp>
      <p:sp>
        <p:nvSpPr>
          <p:cNvPr id="189" name="Google Shape;189;g2ffaff14bca_0_189"/>
          <p:cNvSpPr txBox="1">
            <a:spLocks noGrp="1"/>
          </p:cNvSpPr>
          <p:nvPr>
            <p:ph type="body" idx="1"/>
          </p:nvPr>
        </p:nvSpPr>
        <p:spPr>
          <a:xfrm>
            <a:off x="838200" y="1511726"/>
            <a:ext cx="10515600" cy="233694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2800"/>
              <a:buNone/>
            </a:pPr>
            <a:r>
              <a:rPr lang="en-US" dirty="0"/>
              <a:t>AI algorithms learn through the examples they are provided with, </a:t>
            </a:r>
            <a:br>
              <a:rPr lang="en-US" dirty="0"/>
            </a:br>
            <a:r>
              <a:rPr lang="en-US" dirty="0"/>
              <a:t>which together form what we call the </a:t>
            </a:r>
            <a:r>
              <a:rPr lang="en-US" b="1" dirty="0">
                <a:solidFill>
                  <a:srgbClr val="BF9000"/>
                </a:solidFill>
              </a:rPr>
              <a:t>training set</a:t>
            </a:r>
            <a:r>
              <a:rPr lang="en-US" dirty="0"/>
              <a:t>.</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b="1" dirty="0"/>
              <a:t>Bias</a:t>
            </a:r>
            <a:r>
              <a:rPr lang="en-US" dirty="0"/>
              <a:t> in the training set will </a:t>
            </a:r>
            <a:r>
              <a:rPr lang="en-US" b="1" dirty="0"/>
              <a:t>affect</a:t>
            </a:r>
            <a:r>
              <a:rPr lang="en-US" dirty="0"/>
              <a:t> the algorithm’s </a:t>
            </a:r>
            <a:r>
              <a:rPr lang="en-US" b="1" dirty="0"/>
              <a:t>behavior</a:t>
            </a:r>
            <a:r>
              <a:rPr lang="en-US" dirty="0"/>
              <a:t>, </a:t>
            </a:r>
            <a:br>
              <a:rPr lang="en-US" dirty="0"/>
            </a:br>
            <a:r>
              <a:rPr lang="en-US" dirty="0"/>
              <a:t>likely </a:t>
            </a:r>
            <a:r>
              <a:rPr lang="en-US" b="1" dirty="0"/>
              <a:t>amplifying</a:t>
            </a:r>
            <a:r>
              <a:rPr lang="en-US" dirty="0"/>
              <a:t> existing problems and mistakes.</a:t>
            </a:r>
            <a:endParaRPr dirty="0"/>
          </a:p>
          <a:p>
            <a:pPr marL="0" lvl="0" indent="0" algn="l" rtl="0">
              <a:lnSpc>
                <a:spcPct val="90000"/>
              </a:lnSpc>
              <a:spcBef>
                <a:spcPts val="1000"/>
              </a:spcBef>
              <a:spcAft>
                <a:spcPts val="0"/>
              </a:spcAft>
              <a:buClr>
                <a:schemeClr val="dk1"/>
              </a:buClr>
              <a:buSzPts val="2800"/>
              <a:buNone/>
            </a:pPr>
            <a:endParaRPr sz="1100" dirty="0"/>
          </a:p>
          <a:p>
            <a:pPr marL="0" lvl="0" indent="0" algn="l" rtl="0">
              <a:lnSpc>
                <a:spcPct val="90000"/>
              </a:lnSpc>
              <a:spcBef>
                <a:spcPts val="1000"/>
              </a:spcBef>
              <a:spcAft>
                <a:spcPts val="0"/>
              </a:spcAft>
              <a:buClr>
                <a:schemeClr val="dk1"/>
              </a:buClr>
              <a:buSzPts val="2800"/>
              <a:buNone/>
            </a:pPr>
            <a:r>
              <a:rPr lang="en-US" dirty="0"/>
              <a:t>Let’s explore a few ways in which a training set can be biased.</a:t>
            </a:r>
            <a:endParaRPr dirty="0"/>
          </a:p>
        </p:txBody>
      </p:sp>
      <p:pic>
        <p:nvPicPr>
          <p:cNvPr id="2" name="Picture 1" descr="page20image59821008">
            <a:extLst>
              <a:ext uri="{FF2B5EF4-FFF2-40B4-BE49-F238E27FC236}">
                <a16:creationId xmlns:a16="http://schemas.microsoft.com/office/drawing/2014/main" id="{E65ED7E0-E5A1-0B4F-40E7-E0C110D852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13" t="22500" r="2739" b="20834"/>
          <a:stretch/>
        </p:blipFill>
        <p:spPr bwMode="auto">
          <a:xfrm>
            <a:off x="1815516" y="3848669"/>
            <a:ext cx="8560968" cy="2889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2ffaff14bca_0_19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Representation bias</a:t>
            </a:r>
            <a:endParaRPr/>
          </a:p>
        </p:txBody>
      </p:sp>
      <p:sp>
        <p:nvSpPr>
          <p:cNvPr id="195" name="Google Shape;195;g2ffaff14bca_0_194"/>
          <p:cNvSpPr txBox="1">
            <a:spLocks noGrp="1"/>
          </p:cNvSpPr>
          <p:nvPr>
            <p:ph type="body" idx="1"/>
          </p:nvPr>
        </p:nvSpPr>
        <p:spPr>
          <a:xfrm>
            <a:off x="838200" y="1609725"/>
            <a:ext cx="6019800" cy="4667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t>Representation bias happens when the </a:t>
            </a:r>
            <a:r>
              <a:rPr lang="en-US" b="1" dirty="0"/>
              <a:t>training set </a:t>
            </a:r>
            <a:r>
              <a:rPr lang="en-US" dirty="0"/>
              <a:t>is, essentially, incomplete, and a </a:t>
            </a:r>
            <a:r>
              <a:rPr lang="en-US" b="1" dirty="0"/>
              <a:t>poor representation </a:t>
            </a:r>
            <a:r>
              <a:rPr lang="en-US" dirty="0"/>
              <a:t>of the population we wish to apply the algorithm on.</a:t>
            </a:r>
            <a:endParaRPr dirty="0"/>
          </a:p>
          <a:p>
            <a:pPr marL="0" lvl="0" indent="0" algn="l" rtl="0">
              <a:spcBef>
                <a:spcPts val="1000"/>
              </a:spcBef>
              <a:spcAft>
                <a:spcPts val="0"/>
              </a:spcAft>
              <a:buClr>
                <a:schemeClr val="dk1"/>
              </a:buClr>
              <a:buSzPts val="1100"/>
              <a:buFont typeface="Arial"/>
              <a:buNone/>
            </a:pPr>
            <a:endParaRPr dirty="0"/>
          </a:p>
          <a:p>
            <a:pPr marL="0" lvl="0" indent="0" algn="l" rtl="0">
              <a:spcBef>
                <a:spcPts val="1000"/>
              </a:spcBef>
              <a:spcAft>
                <a:spcPts val="0"/>
              </a:spcAft>
              <a:buClr>
                <a:schemeClr val="dk1"/>
              </a:buClr>
              <a:buSzPts val="1100"/>
              <a:buNone/>
            </a:pPr>
            <a:r>
              <a:rPr lang="en-US" dirty="0"/>
              <a:t>Other times, representation bias happens when trying to use existing </a:t>
            </a:r>
            <a:r>
              <a:rPr lang="en-US" b="1" dirty="0"/>
              <a:t>samples from a different time or place</a:t>
            </a:r>
            <a:r>
              <a:rPr lang="en-US" dirty="0"/>
              <a:t>, instead of collecting new ones.</a:t>
            </a:r>
            <a:endParaRPr dirty="0"/>
          </a:p>
        </p:txBody>
      </p:sp>
      <p:pic>
        <p:nvPicPr>
          <p:cNvPr id="196" name="Google Shape;196;g2ffaff14bca_0_194"/>
          <p:cNvPicPr preferRelativeResize="0"/>
          <p:nvPr/>
        </p:nvPicPr>
        <p:blipFill>
          <a:blip r:embed="rId3">
            <a:alphaModFix/>
          </a:blip>
          <a:stretch>
            <a:fillRect/>
          </a:stretch>
        </p:blipFill>
        <p:spPr>
          <a:xfrm>
            <a:off x="7080000" y="1626288"/>
            <a:ext cx="4807204" cy="3605403"/>
          </a:xfrm>
          <a:prstGeom prst="rect">
            <a:avLst/>
          </a:prstGeom>
          <a:noFill/>
          <a:ln>
            <a:noFill/>
          </a:ln>
        </p:spPr>
      </p:pic>
      <p:sp>
        <p:nvSpPr>
          <p:cNvPr id="197" name="Google Shape;197;g2ffaff14bca_0_194">
            <a:hlinkClick r:id="rId4"/>
          </p:cNvPr>
          <p:cNvSpPr txBox="1"/>
          <p:nvPr/>
        </p:nvSpPr>
        <p:spPr>
          <a:xfrm>
            <a:off x="7264800" y="5325025"/>
            <a:ext cx="4437600" cy="11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u="sng">
                <a:solidFill>
                  <a:schemeClr val="hlink"/>
                </a:solidFill>
                <a:latin typeface="Calibri"/>
                <a:ea typeface="Calibri"/>
                <a:cs typeface="Calibri"/>
                <a:sym typeface="Calibri"/>
                <a:hlinkClick r:id="rId4"/>
              </a:rPr>
              <a:t>Dr. Joy Buolamwini demonstrating failures in face recognition.</a:t>
            </a:r>
            <a:endParaRPr sz="2400">
              <a:solidFill>
                <a:schemeClr val="dk1"/>
              </a:solidFill>
              <a:latin typeface="Calibri"/>
              <a:ea typeface="Calibri"/>
              <a:cs typeface="Calibri"/>
              <a:sym typeface="Calibri"/>
            </a:endParaRPr>
          </a:p>
          <a:p>
            <a:pPr marL="0" lvl="0" indent="0" algn="ctr" rtl="0">
              <a:spcBef>
                <a:spcPts val="0"/>
              </a:spcBef>
              <a:spcAft>
                <a:spcPts val="0"/>
              </a:spcAft>
              <a:buNone/>
            </a:pP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ffaff14bca_0_20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Measurement bias</a:t>
            </a:r>
            <a:endParaRPr/>
          </a:p>
        </p:txBody>
      </p:sp>
      <p:sp>
        <p:nvSpPr>
          <p:cNvPr id="204" name="Google Shape;204;g2ffaff14bca_0_20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ct val="100000"/>
              <a:buNone/>
            </a:pPr>
            <a:r>
              <a:rPr lang="en-US" dirty="0"/>
              <a:t>Measurement bias has to do with the way we try to create a numerical representation of the problem that we are trying to solve. It may arise in a couple of different ways, such as:</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dirty="0"/>
              <a:t>The features or labels used are an </a:t>
            </a:r>
            <a:r>
              <a:rPr lang="en-US" b="1" dirty="0"/>
              <a:t>oversimplification</a:t>
            </a:r>
            <a:r>
              <a:rPr lang="en-US" dirty="0"/>
              <a:t> of the problem. For example, when universities decide which students to admit, they try to </a:t>
            </a:r>
            <a:r>
              <a:rPr lang="en-US" b="1" dirty="0"/>
              <a:t>assess students’ intelligence</a:t>
            </a:r>
            <a:r>
              <a:rPr lang="en-US" dirty="0"/>
              <a:t>, to admit those more likely to succeed. But since intelligence can not be measured, they use </a:t>
            </a:r>
            <a:r>
              <a:rPr lang="en-US" b="1" dirty="0">
                <a:solidFill>
                  <a:srgbClr val="BF9000"/>
                </a:solidFill>
              </a:rPr>
              <a:t>proxies</a:t>
            </a:r>
            <a:r>
              <a:rPr lang="en-US" dirty="0"/>
              <a:t> instead - </a:t>
            </a:r>
            <a:r>
              <a:rPr lang="en-US" b="1" dirty="0"/>
              <a:t>GPA</a:t>
            </a:r>
            <a:r>
              <a:rPr lang="en-US" dirty="0"/>
              <a:t>, entry exam scores - which can be affected by a lot of factors (like a very smart student getting anxious on the day of the entry test).</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dirty="0"/>
              <a:t>Different groups are measured in different ways. For example,</a:t>
            </a:r>
            <a:br>
              <a:rPr lang="en-US" dirty="0"/>
            </a:br>
            <a:r>
              <a:rPr lang="en-US" dirty="0"/>
              <a:t>if </a:t>
            </a:r>
            <a:r>
              <a:rPr lang="en-US" b="1" dirty="0"/>
              <a:t>more</a:t>
            </a:r>
            <a:r>
              <a:rPr lang="en-US" dirty="0"/>
              <a:t> </a:t>
            </a:r>
            <a:r>
              <a:rPr lang="en-US" b="1" dirty="0"/>
              <a:t>police</a:t>
            </a:r>
            <a:r>
              <a:rPr lang="en-US" dirty="0"/>
              <a:t> is deployed to </a:t>
            </a:r>
            <a:r>
              <a:rPr lang="en-US" b="1" dirty="0"/>
              <a:t>patrol a particular neighborhood</a:t>
            </a:r>
            <a:r>
              <a:rPr lang="en-US" dirty="0"/>
              <a:t>, they may find </a:t>
            </a:r>
            <a:r>
              <a:rPr lang="en-US" b="1" dirty="0"/>
              <a:t>more crimes </a:t>
            </a:r>
            <a:r>
              <a:rPr lang="en-US" dirty="0"/>
              <a:t>and incorrectly deduce that this neighborhood is more dangerous than others, while in fact they are just being able to capture more cases.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2ffaff14bca_0_20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Historical bias</a:t>
            </a:r>
            <a:endParaRPr/>
          </a:p>
        </p:txBody>
      </p:sp>
      <p:sp>
        <p:nvSpPr>
          <p:cNvPr id="210" name="Google Shape;210;g2ffaff14bca_0_207"/>
          <p:cNvSpPr txBox="1">
            <a:spLocks noGrp="1"/>
          </p:cNvSpPr>
          <p:nvPr>
            <p:ph type="body" idx="1"/>
          </p:nvPr>
        </p:nvSpPr>
        <p:spPr>
          <a:xfrm>
            <a:off x="838199" y="1609726"/>
            <a:ext cx="10780059" cy="48324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t>Historical bias refers to a misalignment between what we wish to model and the actual state of the world.</a:t>
            </a:r>
            <a:endParaRPr dirty="0"/>
          </a:p>
          <a:p>
            <a:pPr marL="0" lvl="0" indent="0" algn="l" rtl="0">
              <a:lnSpc>
                <a:spcPct val="90000"/>
              </a:lnSpc>
              <a:spcBef>
                <a:spcPts val="0"/>
              </a:spcBef>
              <a:spcAft>
                <a:spcPts val="0"/>
              </a:spcAft>
              <a:buClr>
                <a:schemeClr val="dk1"/>
              </a:buClr>
              <a:buSzPts val="2800"/>
              <a:buNone/>
            </a:pPr>
            <a:endParaRPr dirty="0"/>
          </a:p>
          <a:p>
            <a:pPr marL="0" lvl="0" indent="0" algn="l" rtl="0">
              <a:lnSpc>
                <a:spcPct val="90000"/>
              </a:lnSpc>
              <a:spcBef>
                <a:spcPts val="0"/>
              </a:spcBef>
              <a:spcAft>
                <a:spcPts val="0"/>
              </a:spcAft>
              <a:buClr>
                <a:schemeClr val="dk1"/>
              </a:buClr>
              <a:buSzPts val="2800"/>
              <a:buNone/>
            </a:pPr>
            <a:r>
              <a:rPr lang="en-US" dirty="0"/>
              <a:t>The Amazon </a:t>
            </a:r>
            <a:r>
              <a:rPr lang="en-US" b="1" dirty="0"/>
              <a:t>AI recruiting </a:t>
            </a:r>
            <a:r>
              <a:rPr lang="en-US" dirty="0"/>
              <a:t>tool discussed earlier was affected by </a:t>
            </a:r>
            <a:r>
              <a:rPr lang="en-US" b="1" dirty="0"/>
              <a:t>historical bias</a:t>
            </a:r>
            <a:r>
              <a:rPr lang="en-US" dirty="0"/>
              <a:t>. The algorithm was trained to select </a:t>
            </a:r>
            <a:r>
              <a:rPr lang="en-US" b="1" dirty="0"/>
              <a:t>people similar </a:t>
            </a:r>
            <a:r>
              <a:rPr lang="en-US" dirty="0"/>
              <a:t>to the </a:t>
            </a:r>
            <a:r>
              <a:rPr lang="en-US" b="1" dirty="0"/>
              <a:t>existing employees</a:t>
            </a:r>
            <a:r>
              <a:rPr lang="en-US" dirty="0"/>
              <a:t>, and because </a:t>
            </a:r>
            <a:r>
              <a:rPr lang="en-US" b="1" dirty="0"/>
              <a:t>male</a:t>
            </a:r>
            <a:r>
              <a:rPr lang="en-US" dirty="0"/>
              <a:t> employees were </a:t>
            </a:r>
            <a:r>
              <a:rPr lang="en-US" b="1" dirty="0"/>
              <a:t>more numerous </a:t>
            </a:r>
            <a:r>
              <a:rPr lang="en-US" dirty="0"/>
              <a:t>than </a:t>
            </a:r>
            <a:r>
              <a:rPr lang="en-US" b="1" dirty="0"/>
              <a:t>female</a:t>
            </a:r>
            <a:r>
              <a:rPr lang="en-US" dirty="0"/>
              <a:t> employees, the algorithm learned that, all things being equal, women were less preferable candidates.</a:t>
            </a:r>
            <a:endParaRPr dirty="0"/>
          </a:p>
          <a:p>
            <a:pPr marL="0" lvl="0" indent="0" algn="l" rtl="0">
              <a:lnSpc>
                <a:spcPct val="90000"/>
              </a:lnSpc>
              <a:spcBef>
                <a:spcPts val="1000"/>
              </a:spcBef>
              <a:spcAft>
                <a:spcPts val="0"/>
              </a:spcAft>
              <a:buClr>
                <a:schemeClr val="dk1"/>
              </a:buClr>
              <a:buSzPts val="2800"/>
              <a:buNone/>
            </a:pPr>
            <a:endParaRPr sz="2100" dirty="0"/>
          </a:p>
          <a:p>
            <a:pPr marL="0" lvl="0" indent="0" algn="l" rtl="0">
              <a:lnSpc>
                <a:spcPct val="90000"/>
              </a:lnSpc>
              <a:spcBef>
                <a:spcPts val="1000"/>
              </a:spcBef>
              <a:spcAft>
                <a:spcPts val="0"/>
              </a:spcAft>
              <a:buClr>
                <a:schemeClr val="dk1"/>
              </a:buClr>
              <a:buSzPts val="2800"/>
              <a:buNone/>
            </a:pPr>
            <a:r>
              <a:rPr lang="en-US" dirty="0"/>
              <a:t>Note that historical bias is particularly </a:t>
            </a:r>
            <a:r>
              <a:rPr lang="en-US" b="1" dirty="0"/>
              <a:t>insidious</a:t>
            </a:r>
            <a:r>
              <a:rPr lang="en-US" dirty="0"/>
              <a:t>, because it is not a sampling or measurement problem, and </a:t>
            </a:r>
            <a:r>
              <a:rPr lang="en-US" b="1" dirty="0"/>
              <a:t>cannot be corrected in the training set</a:t>
            </a:r>
            <a:r>
              <a:rPr lang="en-US" dirty="0"/>
              <a:t> – we can only work around it.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fff9d182e0_0_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Fairness and AI</a:t>
            </a:r>
            <a:endParaRPr/>
          </a:p>
        </p:txBody>
      </p:sp>
      <p:sp>
        <p:nvSpPr>
          <p:cNvPr id="366" name="Google Shape;366;g2fff9d182e0_0_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6"/>
          <p:cNvSpPr txBox="1">
            <a:spLocks noGrp="1"/>
          </p:cNvSpPr>
          <p:nvPr>
            <p:ph type="title"/>
          </p:nvPr>
        </p:nvSpPr>
        <p:spPr>
          <a:xfrm>
            <a:off x="415599" y="299524"/>
            <a:ext cx="11360800" cy="76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2800"/>
              <a:buFont typeface="Calibri"/>
              <a:buNone/>
            </a:pPr>
            <a:r>
              <a:rPr lang="en-US"/>
              <a:t>Unfairness in learning algorithms</a:t>
            </a:r>
            <a:endParaRPr/>
          </a:p>
        </p:txBody>
      </p:sp>
      <p:sp>
        <p:nvSpPr>
          <p:cNvPr id="372" name="Google Shape;372;p16"/>
          <p:cNvSpPr txBox="1">
            <a:spLocks noGrp="1"/>
          </p:cNvSpPr>
          <p:nvPr>
            <p:ph type="body" idx="1"/>
          </p:nvPr>
        </p:nvSpPr>
        <p:spPr>
          <a:xfrm>
            <a:off x="154059" y="1070012"/>
            <a:ext cx="11776400" cy="2900180"/>
          </a:xfrm>
          <a:prstGeom prst="rect">
            <a:avLst/>
          </a:prstGeom>
          <a:noFill/>
          <a:ln>
            <a:noFill/>
          </a:ln>
        </p:spPr>
        <p:txBody>
          <a:bodyPr spcFirstLastPara="1" wrap="square" lIns="91425" tIns="91425" rIns="91425" bIns="91425" anchor="t" anchorCtr="0">
            <a:noAutofit/>
          </a:bodyPr>
          <a:lstStyle/>
          <a:p>
            <a:pPr marL="152396" lvl="0" indent="0" algn="l" rtl="0">
              <a:lnSpc>
                <a:spcPct val="90000"/>
              </a:lnSpc>
              <a:spcBef>
                <a:spcPts val="600"/>
              </a:spcBef>
              <a:spcAft>
                <a:spcPts val="0"/>
              </a:spcAft>
              <a:buClr>
                <a:schemeClr val="dk1"/>
              </a:buClr>
              <a:buSzPts val="1800"/>
              <a:buNone/>
            </a:pPr>
            <a:r>
              <a:rPr lang="en-US" sz="2500" dirty="0">
                <a:solidFill>
                  <a:schemeClr val="dk1"/>
                </a:solidFill>
              </a:rPr>
              <a:t>Scenario: The Data Science </a:t>
            </a:r>
            <a:r>
              <a:rPr lang="en-US" sz="2500" dirty="0"/>
              <a:t>U</a:t>
            </a:r>
            <a:r>
              <a:rPr lang="en-US" sz="2500" dirty="0">
                <a:solidFill>
                  <a:schemeClr val="dk1"/>
                </a:solidFill>
              </a:rPr>
              <a:t>niversity has decided to use an </a:t>
            </a:r>
            <a:r>
              <a:rPr lang="en-US" sz="2500" b="1" dirty="0">
                <a:solidFill>
                  <a:schemeClr val="dk1"/>
                </a:solidFill>
              </a:rPr>
              <a:t>admission test </a:t>
            </a:r>
            <a:r>
              <a:rPr lang="en-US" sz="2500" dirty="0">
                <a:solidFill>
                  <a:schemeClr val="dk1"/>
                </a:solidFill>
              </a:rPr>
              <a:t>to select which of the students who apply should be admitted. The </a:t>
            </a:r>
            <a:r>
              <a:rPr lang="en-US" sz="2500" b="1" dirty="0">
                <a:solidFill>
                  <a:schemeClr val="dk1"/>
                </a:solidFill>
              </a:rPr>
              <a:t>top N students get in</a:t>
            </a:r>
            <a:r>
              <a:rPr lang="en-US" sz="2500" dirty="0">
                <a:solidFill>
                  <a:schemeClr val="dk1"/>
                </a:solidFill>
              </a:rPr>
              <a:t>, the others are rejected.</a:t>
            </a:r>
            <a:endParaRPr sz="3300" dirty="0"/>
          </a:p>
          <a:p>
            <a:pPr marL="152396" lvl="0" indent="0" algn="l" rtl="0">
              <a:lnSpc>
                <a:spcPct val="90000"/>
              </a:lnSpc>
              <a:spcBef>
                <a:spcPts val="600"/>
              </a:spcBef>
              <a:spcAft>
                <a:spcPts val="0"/>
              </a:spcAft>
              <a:buClr>
                <a:schemeClr val="dk1"/>
              </a:buClr>
              <a:buSzPts val="1800"/>
              <a:buNone/>
            </a:pPr>
            <a:r>
              <a:rPr lang="en-US" sz="2500" dirty="0">
                <a:solidFill>
                  <a:schemeClr val="dk1"/>
                </a:solidFill>
              </a:rPr>
              <a:t>In this world, </a:t>
            </a:r>
            <a:r>
              <a:rPr lang="en-US" sz="2500" b="1" dirty="0">
                <a:solidFill>
                  <a:schemeClr val="dk1"/>
                </a:solidFill>
              </a:rPr>
              <a:t>two races exists</a:t>
            </a:r>
            <a:r>
              <a:rPr lang="en-US" sz="2500" dirty="0">
                <a:solidFill>
                  <a:schemeClr val="dk1"/>
                </a:solidFill>
              </a:rPr>
              <a:t>: Circles and Squares</a:t>
            </a:r>
            <a:endParaRPr sz="3300" dirty="0"/>
          </a:p>
          <a:p>
            <a:pPr marL="152396" lvl="0" indent="0" algn="l" rtl="0">
              <a:lnSpc>
                <a:spcPct val="90000"/>
              </a:lnSpc>
              <a:spcBef>
                <a:spcPts val="600"/>
              </a:spcBef>
              <a:spcAft>
                <a:spcPts val="0"/>
              </a:spcAft>
              <a:buClr>
                <a:schemeClr val="dk1"/>
              </a:buClr>
              <a:buSzPts val="1800"/>
              <a:buNone/>
            </a:pPr>
            <a:r>
              <a:rPr lang="en-US" sz="2500" dirty="0">
                <a:solidFill>
                  <a:schemeClr val="dk1"/>
                </a:solidFill>
              </a:rPr>
              <a:t>Circles tend to be </a:t>
            </a:r>
            <a:r>
              <a:rPr lang="en-US" sz="2500" b="1" dirty="0">
                <a:solidFill>
                  <a:schemeClr val="dk1"/>
                </a:solidFill>
              </a:rPr>
              <a:t>wealthier</a:t>
            </a:r>
            <a:r>
              <a:rPr lang="en-US" sz="2500" dirty="0">
                <a:solidFill>
                  <a:schemeClr val="dk1"/>
                </a:solidFill>
              </a:rPr>
              <a:t>; this means their families can pay tutors and preparation centers to help them </a:t>
            </a:r>
            <a:r>
              <a:rPr lang="en-US" sz="2500" b="1" dirty="0">
                <a:solidFill>
                  <a:schemeClr val="dk1"/>
                </a:solidFill>
              </a:rPr>
              <a:t>ace the admission test</a:t>
            </a:r>
            <a:r>
              <a:rPr lang="en-US" sz="2500" dirty="0">
                <a:solidFill>
                  <a:schemeClr val="dk1"/>
                </a:solidFill>
              </a:rPr>
              <a:t>.</a:t>
            </a:r>
            <a:endParaRPr sz="2500" dirty="0">
              <a:solidFill>
                <a:schemeClr val="dk1"/>
              </a:solidFill>
            </a:endParaRPr>
          </a:p>
          <a:p>
            <a:pPr marL="152396" lvl="0" indent="0" algn="l" rtl="0">
              <a:lnSpc>
                <a:spcPct val="90000"/>
              </a:lnSpc>
              <a:spcBef>
                <a:spcPts val="600"/>
              </a:spcBef>
              <a:spcAft>
                <a:spcPts val="0"/>
              </a:spcAft>
              <a:buClr>
                <a:schemeClr val="dk1"/>
              </a:buClr>
              <a:buSzPts val="1800"/>
              <a:buNone/>
            </a:pPr>
            <a:r>
              <a:rPr lang="en-US" sz="2500" dirty="0">
                <a:solidFill>
                  <a:schemeClr val="dk1"/>
                </a:solidFill>
              </a:rPr>
              <a:t>Other than this difference in preparation, the two populations are </a:t>
            </a:r>
            <a:r>
              <a:rPr lang="en-US" sz="2500" b="1" dirty="0">
                <a:solidFill>
                  <a:schemeClr val="dk1"/>
                </a:solidFill>
              </a:rPr>
              <a:t>equally likely</a:t>
            </a:r>
            <a:r>
              <a:rPr lang="en-US" sz="2500" dirty="0">
                <a:solidFill>
                  <a:schemeClr val="dk1"/>
                </a:solidFill>
              </a:rPr>
              <a:t> to succeed.</a:t>
            </a:r>
            <a:endParaRPr sz="3300" dirty="0"/>
          </a:p>
          <a:p>
            <a:pPr marL="266697" lvl="0" indent="0" algn="l" rtl="0">
              <a:lnSpc>
                <a:spcPct val="90000"/>
              </a:lnSpc>
              <a:spcBef>
                <a:spcPts val="0"/>
              </a:spcBef>
              <a:spcAft>
                <a:spcPts val="0"/>
              </a:spcAft>
              <a:buClr>
                <a:schemeClr val="dk1"/>
              </a:buClr>
              <a:buSzPts val="1800"/>
              <a:buNone/>
            </a:pPr>
            <a:endParaRPr sz="2500" dirty="0">
              <a:solidFill>
                <a:schemeClr val="dk1"/>
              </a:solidFill>
            </a:endParaRPr>
          </a:p>
        </p:txBody>
      </p:sp>
      <p:sp>
        <p:nvSpPr>
          <p:cNvPr id="373" name="Google Shape;373;p16"/>
          <p:cNvSpPr txBox="1"/>
          <p:nvPr/>
        </p:nvSpPr>
        <p:spPr>
          <a:xfrm>
            <a:off x="0" y="6537132"/>
            <a:ext cx="746588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Example based on “The ethical algorithm”, by Kearns and Roth</a:t>
            </a:r>
            <a:endParaRPr sz="1400" b="0" i="0" u="none" strike="noStrike" cap="none">
              <a:solidFill>
                <a:srgbClr val="000000"/>
              </a:solidFill>
              <a:latin typeface="Arial"/>
              <a:ea typeface="Arial"/>
              <a:cs typeface="Arial"/>
              <a:sym typeface="Arial"/>
            </a:endParaRPr>
          </a:p>
        </p:txBody>
      </p:sp>
      <p:grpSp>
        <p:nvGrpSpPr>
          <p:cNvPr id="374" name="Google Shape;374;p16"/>
          <p:cNvGrpSpPr/>
          <p:nvPr/>
        </p:nvGrpSpPr>
        <p:grpSpPr>
          <a:xfrm>
            <a:off x="1045028" y="5147162"/>
            <a:ext cx="10101942" cy="1173924"/>
            <a:chOff x="1406770" y="3568362"/>
            <a:chExt cx="7576457" cy="880443"/>
          </a:xfrm>
        </p:grpSpPr>
        <p:cxnSp>
          <p:nvCxnSpPr>
            <p:cNvPr id="375" name="Google Shape;375;p16"/>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376" name="Google Shape;376;p16"/>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377" name="Google Shape;377;p16"/>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8" name="Google Shape;378;p16"/>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79" name="Google Shape;379;p16"/>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0" name="Google Shape;380;p16"/>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1" name="Google Shape;381;p16"/>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2" name="Google Shape;382;p16"/>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3" name="Google Shape;383;p16"/>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4" name="Google Shape;384;p16"/>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5" name="Google Shape;385;p16"/>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6" name="Google Shape;386;p16"/>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7" name="Google Shape;387;p16"/>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8" name="Google Shape;388;p16"/>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89" name="Google Shape;389;p16"/>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0" name="Google Shape;390;p16"/>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1" name="Google Shape;391;p16"/>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2" name="Google Shape;392;p16"/>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3" name="Google Shape;393;p16"/>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4" name="Google Shape;394;p16"/>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5" name="Google Shape;395;p16"/>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6" name="Google Shape;396;p16"/>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7" name="Google Shape;397;p16"/>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8" name="Google Shape;398;p16"/>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399" name="Google Shape;399;p16"/>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00" name="Google Shape;400;p16"/>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01" name="Google Shape;401;p16"/>
          <p:cNvSpPr txBox="1"/>
          <p:nvPr/>
        </p:nvSpPr>
        <p:spPr>
          <a:xfrm>
            <a:off x="2861088" y="4819535"/>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2" name="Google Shape;402;p16"/>
          <p:cNvSpPr txBox="1"/>
          <p:nvPr/>
        </p:nvSpPr>
        <p:spPr>
          <a:xfrm>
            <a:off x="3706962" y="48195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3" name="Google Shape;403;p16"/>
          <p:cNvSpPr txBox="1"/>
          <p:nvPr/>
        </p:nvSpPr>
        <p:spPr>
          <a:xfrm>
            <a:off x="3416046" y="4826422"/>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4" name="Google Shape;404;p16"/>
          <p:cNvSpPr txBox="1"/>
          <p:nvPr/>
        </p:nvSpPr>
        <p:spPr>
          <a:xfrm>
            <a:off x="6042258" y="481953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5" name="Google Shape;405;p16"/>
          <p:cNvSpPr txBox="1"/>
          <p:nvPr/>
        </p:nvSpPr>
        <p:spPr>
          <a:xfrm>
            <a:off x="5763444" y="481953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6" name="Google Shape;406;p16"/>
          <p:cNvSpPr txBox="1"/>
          <p:nvPr/>
        </p:nvSpPr>
        <p:spPr>
          <a:xfrm>
            <a:off x="4948798" y="4819532"/>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7" name="Google Shape;407;p16"/>
          <p:cNvSpPr txBox="1"/>
          <p:nvPr/>
        </p:nvSpPr>
        <p:spPr>
          <a:xfrm>
            <a:off x="9349721" y="477023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8" name="Google Shape;408;p16"/>
          <p:cNvSpPr txBox="1"/>
          <p:nvPr/>
        </p:nvSpPr>
        <p:spPr>
          <a:xfrm>
            <a:off x="8278164" y="4797984"/>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9" name="Google Shape;409;p16"/>
          <p:cNvSpPr txBox="1"/>
          <p:nvPr/>
        </p:nvSpPr>
        <p:spPr>
          <a:xfrm>
            <a:off x="7889332"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0" name="Google Shape;410;p16"/>
          <p:cNvSpPr txBox="1"/>
          <p:nvPr/>
        </p:nvSpPr>
        <p:spPr>
          <a:xfrm>
            <a:off x="7531310" y="479798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1" name="Google Shape;411;p16"/>
          <p:cNvSpPr txBox="1"/>
          <p:nvPr/>
        </p:nvSpPr>
        <p:spPr>
          <a:xfrm>
            <a:off x="10479918" y="476488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2" name="Google Shape;412;p16"/>
          <p:cNvSpPr txBox="1"/>
          <p:nvPr/>
        </p:nvSpPr>
        <p:spPr>
          <a:xfrm>
            <a:off x="10091086"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3" name="Google Shape;413;p16"/>
          <p:cNvSpPr txBox="1"/>
          <p:nvPr/>
        </p:nvSpPr>
        <p:spPr>
          <a:xfrm>
            <a:off x="9733065" y="476488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4" name="Google Shape;414;p16"/>
          <p:cNvSpPr txBox="1"/>
          <p:nvPr/>
        </p:nvSpPr>
        <p:spPr>
          <a:xfrm>
            <a:off x="8615948" y="479824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5" name="Google Shape;415;p16"/>
          <p:cNvSpPr txBox="1"/>
          <p:nvPr/>
        </p:nvSpPr>
        <p:spPr>
          <a:xfrm>
            <a:off x="9016297" y="477340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6" name="Google Shape;416;p16"/>
          <p:cNvSpPr txBox="1"/>
          <p:nvPr/>
        </p:nvSpPr>
        <p:spPr>
          <a:xfrm>
            <a:off x="7210953"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7" name="Google Shape;417;p16"/>
          <p:cNvSpPr txBox="1"/>
          <p:nvPr/>
        </p:nvSpPr>
        <p:spPr>
          <a:xfrm>
            <a:off x="6823757"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8" name="Google Shape;418;p16"/>
          <p:cNvSpPr txBox="1"/>
          <p:nvPr/>
        </p:nvSpPr>
        <p:spPr>
          <a:xfrm>
            <a:off x="6450750" y="4799163"/>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19" name="Google Shape;419;p16"/>
          <p:cNvSpPr txBox="1"/>
          <p:nvPr/>
        </p:nvSpPr>
        <p:spPr>
          <a:xfrm>
            <a:off x="1863616" y="4798656"/>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0" name="Google Shape;420;p16"/>
          <p:cNvSpPr txBox="1"/>
          <p:nvPr/>
        </p:nvSpPr>
        <p:spPr>
          <a:xfrm>
            <a:off x="2601877" y="4793671"/>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1" name="Google Shape;421;p16"/>
          <p:cNvSpPr txBox="1"/>
          <p:nvPr/>
        </p:nvSpPr>
        <p:spPr>
          <a:xfrm>
            <a:off x="3180477"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2" name="Google Shape;422;p16"/>
          <p:cNvSpPr txBox="1"/>
          <p:nvPr/>
        </p:nvSpPr>
        <p:spPr>
          <a:xfrm>
            <a:off x="4156840"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3" name="Google Shape;423;p16"/>
          <p:cNvSpPr txBox="1"/>
          <p:nvPr/>
        </p:nvSpPr>
        <p:spPr>
          <a:xfrm>
            <a:off x="4571654" y="4785264"/>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24" name="Google Shape;424;p16"/>
          <p:cNvSpPr txBox="1"/>
          <p:nvPr/>
        </p:nvSpPr>
        <p:spPr>
          <a:xfrm>
            <a:off x="5376685" y="479575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425" name="Google Shape;425;p16"/>
          <p:cNvCxnSpPr/>
          <p:nvPr/>
        </p:nvCxnSpPr>
        <p:spPr>
          <a:xfrm>
            <a:off x="7536613" y="4569461"/>
            <a:ext cx="0" cy="1527349"/>
          </a:xfrm>
          <a:prstGeom prst="straightConnector1">
            <a:avLst/>
          </a:prstGeom>
          <a:noFill/>
          <a:ln w="9525" cap="flat" cmpd="sng">
            <a:solidFill>
              <a:schemeClr val="accent6"/>
            </a:solidFill>
            <a:prstDash val="dash"/>
            <a:round/>
            <a:headEnd type="none" w="sm" len="sm"/>
            <a:tailEnd type="none" w="sm" len="sm"/>
          </a:ln>
        </p:spPr>
      </p:cxnSp>
      <p:cxnSp>
        <p:nvCxnSpPr>
          <p:cNvPr id="426" name="Google Shape;426;p16"/>
          <p:cNvCxnSpPr/>
          <p:nvPr/>
        </p:nvCxnSpPr>
        <p:spPr>
          <a:xfrm>
            <a:off x="5763443" y="4553830"/>
            <a:ext cx="0" cy="1527349"/>
          </a:xfrm>
          <a:prstGeom prst="straightConnector1">
            <a:avLst/>
          </a:prstGeom>
          <a:noFill/>
          <a:ln w="9525" cap="flat" cmpd="sng">
            <a:solidFill>
              <a:schemeClr val="accent6"/>
            </a:solidFill>
            <a:prstDash val="dash"/>
            <a:round/>
            <a:headEnd type="none" w="sm" len="sm"/>
            <a:tailEnd type="none" w="sm" len="sm"/>
          </a:ln>
        </p:spPr>
      </p:cxnSp>
      <p:sp>
        <p:nvSpPr>
          <p:cNvPr id="427" name="Google Shape;427;p16"/>
          <p:cNvSpPr txBox="1"/>
          <p:nvPr/>
        </p:nvSpPr>
        <p:spPr>
          <a:xfrm>
            <a:off x="6991189" y="6096811"/>
            <a:ext cx="118519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Optimal</a:t>
            </a:r>
            <a:endParaRPr sz="1400" b="0" i="0" u="none" strike="noStrike" cap="none">
              <a:solidFill>
                <a:srgbClr val="000000"/>
              </a:solidFill>
              <a:latin typeface="Arial"/>
              <a:ea typeface="Arial"/>
              <a:cs typeface="Arial"/>
              <a:sym typeface="Arial"/>
            </a:endParaRPr>
          </a:p>
        </p:txBody>
      </p:sp>
      <p:sp>
        <p:nvSpPr>
          <p:cNvPr id="428" name="Google Shape;428;p16"/>
          <p:cNvSpPr txBox="1"/>
          <p:nvPr/>
        </p:nvSpPr>
        <p:spPr>
          <a:xfrm>
            <a:off x="5175305" y="6096811"/>
            <a:ext cx="1349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More fair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animEffect transition="in" filter="fade">
                                      <p:cBhvr>
                                        <p:cTn id="7" dur="500"/>
                                        <p:tgtEl>
                                          <p:spTgt spid="427"/>
                                        </p:tgtEl>
                                      </p:cBhvr>
                                    </p:animEffect>
                                  </p:childTnLst>
                                </p:cTn>
                              </p:par>
                              <p:par>
                                <p:cTn id="8" presetID="10" presetClass="entr" presetSubtype="0" fill="hold" nodeType="withEffect">
                                  <p:stCondLst>
                                    <p:cond delay="0"/>
                                  </p:stCondLst>
                                  <p:childTnLst>
                                    <p:set>
                                      <p:cBhvr>
                                        <p:cTn id="9" dur="1" fill="hold">
                                          <p:stCondLst>
                                            <p:cond delay="0"/>
                                          </p:stCondLst>
                                        </p:cTn>
                                        <p:tgtEl>
                                          <p:spTgt spid="425"/>
                                        </p:tgtEl>
                                        <p:attrNameLst>
                                          <p:attrName>style.visibility</p:attrName>
                                        </p:attrNameLst>
                                      </p:cBhvr>
                                      <p:to>
                                        <p:strVal val="visible"/>
                                      </p:to>
                                    </p:set>
                                    <p:animEffect transition="in" filter="fade">
                                      <p:cBhvr>
                                        <p:cTn id="10" dur="500"/>
                                        <p:tgtEl>
                                          <p:spTgt spid="4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28"/>
                                        </p:tgtEl>
                                        <p:attrNameLst>
                                          <p:attrName>style.visibility</p:attrName>
                                        </p:attrNameLst>
                                      </p:cBhvr>
                                      <p:to>
                                        <p:strVal val="visible"/>
                                      </p:to>
                                    </p:set>
                                    <p:animEffect transition="in" filter="fade">
                                      <p:cBhvr>
                                        <p:cTn id="15" dur="500"/>
                                        <p:tgtEl>
                                          <p:spTgt spid="428"/>
                                        </p:tgtEl>
                                      </p:cBhvr>
                                    </p:animEffect>
                                  </p:childTnLst>
                                </p:cTn>
                              </p:par>
                              <p:par>
                                <p:cTn id="16" presetID="10" presetClass="entr" presetSubtype="0" fill="hold" nodeType="withEffect">
                                  <p:stCondLst>
                                    <p:cond delay="0"/>
                                  </p:stCondLst>
                                  <p:childTnLst>
                                    <p:set>
                                      <p:cBhvr>
                                        <p:cTn id="17" dur="1" fill="hold">
                                          <p:stCondLst>
                                            <p:cond delay="0"/>
                                          </p:stCondLst>
                                        </p:cTn>
                                        <p:tgtEl>
                                          <p:spTgt spid="426"/>
                                        </p:tgtEl>
                                        <p:attrNameLst>
                                          <p:attrName>style.visibility</p:attrName>
                                        </p:attrNameLst>
                                      </p:cBhvr>
                                      <p:to>
                                        <p:strVal val="visible"/>
                                      </p:to>
                                    </p:set>
                                    <p:animEffect transition="in" filter="fade">
                                      <p:cBhvr>
                                        <p:cTn id="18" dur="5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17"/>
          <p:cNvPicPr preferRelativeResize="0"/>
          <p:nvPr/>
        </p:nvPicPr>
        <p:blipFill rotWithShape="1">
          <a:blip r:embed="rId3">
            <a:alphaModFix/>
          </a:blip>
          <a:srcRect/>
          <a:stretch/>
        </p:blipFill>
        <p:spPr>
          <a:xfrm>
            <a:off x="0" y="1690686"/>
            <a:ext cx="4031412" cy="4031412"/>
          </a:xfrm>
          <a:prstGeom prst="rect">
            <a:avLst/>
          </a:prstGeom>
          <a:noFill/>
          <a:ln>
            <a:noFill/>
          </a:ln>
        </p:spPr>
      </p:pic>
      <p:sp>
        <p:nvSpPr>
          <p:cNvPr id="434" name="Google Shape;43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Social impact of AI</a:t>
            </a:r>
            <a:endParaRPr/>
          </a:p>
        </p:txBody>
      </p:sp>
      <p:sp>
        <p:nvSpPr>
          <p:cNvPr id="435" name="Google Shape;435;p17"/>
          <p:cNvSpPr txBox="1">
            <a:spLocks noGrp="1"/>
          </p:cNvSpPr>
          <p:nvPr>
            <p:ph type="body" idx="1"/>
          </p:nvPr>
        </p:nvSpPr>
        <p:spPr>
          <a:xfrm>
            <a:off x="3762554" y="1690687"/>
            <a:ext cx="7952524" cy="4802187"/>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t>The previous example shows how AI applications can end up being </a:t>
            </a:r>
            <a:r>
              <a:rPr lang="en-US" b="1" dirty="0">
                <a:solidFill>
                  <a:srgbClr val="BF9000"/>
                </a:solidFill>
              </a:rPr>
              <a:t>biased</a:t>
            </a:r>
            <a:r>
              <a:rPr lang="en-US" dirty="0"/>
              <a:t>, </a:t>
            </a:r>
            <a:br>
              <a:rPr lang="en-US" dirty="0"/>
            </a:br>
            <a:r>
              <a:rPr lang="en-US" dirty="0"/>
              <a:t>and </a:t>
            </a:r>
            <a:r>
              <a:rPr lang="en-US" b="1" dirty="0"/>
              <a:t>treat different populations differently</a:t>
            </a:r>
            <a:r>
              <a:rPr lang="en-US" dirty="0"/>
              <a:t>.</a:t>
            </a:r>
            <a:endParaRPr dirty="0"/>
          </a:p>
          <a:p>
            <a:pPr marL="0" lvl="0" indent="0" algn="l" rtl="0">
              <a:lnSpc>
                <a:spcPct val="90000"/>
              </a:lnSpc>
              <a:spcBef>
                <a:spcPts val="1000"/>
              </a:spcBef>
              <a:spcAft>
                <a:spcPts val="0"/>
              </a:spcAft>
              <a:buClr>
                <a:schemeClr val="dk1"/>
              </a:buClr>
              <a:buSzPts val="2800"/>
              <a:buNone/>
            </a:pPr>
            <a:r>
              <a:rPr lang="en-US" dirty="0"/>
              <a:t>Note that this </a:t>
            </a:r>
            <a:r>
              <a:rPr lang="en-US" b="1" dirty="0"/>
              <a:t>often happens involuntarily</a:t>
            </a:r>
            <a:r>
              <a:rPr lang="en-US" dirty="0"/>
              <a:t>: the algorithm was not trained to be unfair to a group, it has </a:t>
            </a:r>
            <a:r>
              <a:rPr lang="en-US" b="1" dirty="0"/>
              <a:t>simply learned based on the examples </a:t>
            </a:r>
            <a:r>
              <a:rPr lang="en-US" dirty="0"/>
              <a:t>it was shown.</a:t>
            </a:r>
            <a:endParaRPr dirty="0"/>
          </a:p>
          <a:p>
            <a:pPr marL="0" lvl="0" indent="0" algn="l" rtl="0">
              <a:lnSpc>
                <a:spcPct val="90000"/>
              </a:lnSpc>
              <a:spcBef>
                <a:spcPts val="1000"/>
              </a:spcBef>
              <a:spcAft>
                <a:spcPts val="0"/>
              </a:spcAft>
              <a:buClr>
                <a:schemeClr val="dk1"/>
              </a:buClr>
              <a:buSzPts val="2800"/>
              <a:buNone/>
            </a:pPr>
            <a:r>
              <a:rPr lang="en-US" dirty="0"/>
              <a:t>In complex problems, it is difficult to achieve a good representation of the information we are trying to classify, and we are likely dealing with a lot of noise. Coming up with a </a:t>
            </a:r>
            <a:r>
              <a:rPr lang="en-US" b="1" dirty="0"/>
              <a:t>good algorithm is challenging</a:t>
            </a:r>
            <a:r>
              <a:rPr lang="en-US" dirty="0"/>
              <a:t>, and the </a:t>
            </a:r>
            <a:r>
              <a:rPr lang="en-US" b="1" dirty="0"/>
              <a:t>consequences</a:t>
            </a:r>
            <a:r>
              <a:rPr lang="en-US" dirty="0"/>
              <a:t> for real people can be </a:t>
            </a:r>
            <a:r>
              <a:rPr lang="en-US" b="1" dirty="0"/>
              <a:t>severe</a:t>
            </a:r>
            <a:r>
              <a:rPr lang="en-US" dirty="0"/>
              <a:t>.</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p23"/>
          <p:cNvPicPr preferRelativeResize="0"/>
          <p:nvPr/>
        </p:nvPicPr>
        <p:blipFill rotWithShape="1">
          <a:blip r:embed="rId3">
            <a:alphaModFix/>
          </a:blip>
          <a:srcRect t="10476" b="37143"/>
          <a:stretch/>
        </p:blipFill>
        <p:spPr>
          <a:xfrm>
            <a:off x="7794172" y="3074732"/>
            <a:ext cx="4397828" cy="2303625"/>
          </a:xfrm>
          <a:prstGeom prst="rect">
            <a:avLst/>
          </a:prstGeom>
          <a:noFill/>
          <a:ln>
            <a:noFill/>
          </a:ln>
        </p:spPr>
      </p:pic>
      <p:sp>
        <p:nvSpPr>
          <p:cNvPr id="441" name="Google Shape;44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algorithmic bias</a:t>
            </a:r>
            <a:endParaRPr/>
          </a:p>
        </p:txBody>
      </p:sp>
      <p:sp>
        <p:nvSpPr>
          <p:cNvPr id="442" name="Google Shape;442;p23"/>
          <p:cNvSpPr txBox="1">
            <a:spLocks noGrp="1"/>
          </p:cNvSpPr>
          <p:nvPr>
            <p:ph type="body" idx="1"/>
          </p:nvPr>
        </p:nvSpPr>
        <p:spPr>
          <a:xfrm>
            <a:off x="838200" y="1825625"/>
            <a:ext cx="10515600" cy="347251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dirty="0"/>
              <a:t>A </a:t>
            </a:r>
            <a:r>
              <a:rPr lang="en-US" sz="2400" b="1" dirty="0"/>
              <a:t>biased dataset </a:t>
            </a:r>
            <a:r>
              <a:rPr lang="en-US" sz="2400" dirty="0"/>
              <a:t>will most likely produce a </a:t>
            </a:r>
            <a:r>
              <a:rPr lang="en-US" sz="2400" b="1" dirty="0"/>
              <a:t>biased algorithm</a:t>
            </a:r>
            <a:r>
              <a:rPr lang="en-US" sz="2400" dirty="0"/>
              <a:t>.</a:t>
            </a:r>
            <a:endParaRPr dirty="0"/>
          </a:p>
          <a:p>
            <a:pPr marL="0" lvl="0" indent="0" algn="l" rtl="0">
              <a:lnSpc>
                <a:spcPct val="90000"/>
              </a:lnSpc>
              <a:spcBef>
                <a:spcPts val="1000"/>
              </a:spcBef>
              <a:spcAft>
                <a:spcPts val="0"/>
              </a:spcAft>
              <a:buClr>
                <a:schemeClr val="dk1"/>
              </a:buClr>
              <a:buSzPts val="1200"/>
              <a:buNone/>
            </a:pPr>
            <a:endParaRPr sz="1200" dirty="0"/>
          </a:p>
          <a:p>
            <a:pPr marL="0" lvl="0" indent="0" algn="l" rtl="0">
              <a:lnSpc>
                <a:spcPct val="90000"/>
              </a:lnSpc>
              <a:spcBef>
                <a:spcPts val="1000"/>
              </a:spcBef>
              <a:spcAft>
                <a:spcPts val="0"/>
              </a:spcAft>
              <a:buClr>
                <a:schemeClr val="dk1"/>
              </a:buClr>
              <a:buSzPts val="2400"/>
              <a:buNone/>
            </a:pPr>
            <a:r>
              <a:rPr lang="en-US" sz="2400" dirty="0"/>
              <a:t>We talk about </a:t>
            </a:r>
            <a:r>
              <a:rPr lang="en-US" sz="2400" b="1" dirty="0">
                <a:solidFill>
                  <a:srgbClr val="BF9000"/>
                </a:solidFill>
              </a:rPr>
              <a:t>algorithmic bias</a:t>
            </a:r>
            <a:r>
              <a:rPr lang="en-US" sz="2400" b="1" baseline="30000" dirty="0">
                <a:solidFill>
                  <a:srgbClr val="BF9000"/>
                </a:solidFill>
              </a:rPr>
              <a:t>(*)</a:t>
            </a:r>
            <a:r>
              <a:rPr lang="en-US" sz="2400" b="1" dirty="0">
                <a:solidFill>
                  <a:srgbClr val="BF9000"/>
                </a:solidFill>
              </a:rPr>
              <a:t> </a:t>
            </a:r>
            <a:r>
              <a:rPr lang="en-US" sz="2400" dirty="0"/>
              <a:t>when an algorithm systematically and unfairly </a:t>
            </a:r>
            <a:r>
              <a:rPr lang="en-US" sz="2400" b="1" dirty="0"/>
              <a:t>favors a group </a:t>
            </a:r>
            <a:r>
              <a:rPr lang="en-US" sz="2400" dirty="0"/>
              <a:t>over others, in a way that has nothing to do with the original intention of the algorithm.</a:t>
            </a:r>
            <a:endParaRPr dirty="0"/>
          </a:p>
          <a:p>
            <a:pPr marL="0" lvl="0" indent="0" algn="l" rtl="0">
              <a:lnSpc>
                <a:spcPct val="90000"/>
              </a:lnSpc>
              <a:spcBef>
                <a:spcPts val="1000"/>
              </a:spcBef>
              <a:spcAft>
                <a:spcPts val="0"/>
              </a:spcAft>
              <a:buClr>
                <a:schemeClr val="dk1"/>
              </a:buClr>
              <a:buSzPts val="2400"/>
              <a:buNone/>
            </a:pPr>
            <a:endParaRPr sz="2400" dirty="0"/>
          </a:p>
        </p:txBody>
      </p:sp>
      <p:sp>
        <p:nvSpPr>
          <p:cNvPr id="443" name="Google Shape;443;p23"/>
          <p:cNvSpPr/>
          <p:nvPr/>
        </p:nvSpPr>
        <p:spPr>
          <a:xfrm>
            <a:off x="995082" y="5513294"/>
            <a:ext cx="10165977" cy="979581"/>
          </a:xfrm>
          <a:prstGeom prst="rect">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baseline="30000">
                <a:solidFill>
                  <a:schemeClr val="lt1"/>
                </a:solidFill>
                <a:latin typeface="Calibri"/>
                <a:ea typeface="Calibri"/>
                <a:cs typeface="Calibri"/>
                <a:sym typeface="Calibri"/>
              </a:rPr>
              <a:t>(*)</a:t>
            </a:r>
            <a:r>
              <a:rPr lang="en-US" sz="2000" b="0" i="0" u="none" strike="noStrike" cap="none">
                <a:solidFill>
                  <a:schemeClr val="lt1"/>
                </a:solidFill>
                <a:latin typeface="Calibri"/>
                <a:ea typeface="Calibri"/>
                <a:cs typeface="Calibri"/>
                <a:sym typeface="Calibri"/>
              </a:rPr>
              <a:t>Note that, in Machine Learning, we also talk about “high bias” in an algorithm when the algorithm is too simple and inflexible to capture the trend in the data. </a:t>
            </a:r>
            <a:endParaRPr sz="2000" b="0" i="0" u="none" strike="noStrike" cap="none" baseline="30000">
              <a:solidFill>
                <a:schemeClr val="lt1"/>
              </a:solidFill>
              <a:latin typeface="Calibri"/>
              <a:ea typeface="Calibri"/>
              <a:cs typeface="Calibri"/>
              <a:sym typeface="Calibri"/>
            </a:endParaRPr>
          </a:p>
        </p:txBody>
      </p:sp>
      <p:sp>
        <p:nvSpPr>
          <p:cNvPr id="444" name="Google Shape;444;p23"/>
          <p:cNvSpPr txBox="1"/>
          <p:nvPr/>
        </p:nvSpPr>
        <p:spPr>
          <a:xfrm>
            <a:off x="838200" y="3863418"/>
            <a:ext cx="7021286"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dirty="0">
                <a:solidFill>
                  <a:schemeClr val="dk1"/>
                </a:solidFill>
                <a:latin typeface="Calibri"/>
                <a:ea typeface="Calibri"/>
                <a:cs typeface="Calibri"/>
                <a:sym typeface="Calibri"/>
              </a:rPr>
              <a:t>In our example about </a:t>
            </a:r>
            <a:r>
              <a:rPr lang="en-US" sz="2400" b="1" i="0" u="none" strike="noStrike" cap="none" dirty="0">
                <a:solidFill>
                  <a:schemeClr val="dk1"/>
                </a:solidFill>
                <a:latin typeface="Calibri"/>
                <a:ea typeface="Calibri"/>
                <a:cs typeface="Calibri"/>
                <a:sym typeface="Calibri"/>
              </a:rPr>
              <a:t>university admissions</a:t>
            </a:r>
            <a:r>
              <a:rPr lang="en-US" sz="2400" b="0" i="0" u="none" strike="noStrike" cap="none" dirty="0">
                <a:solidFill>
                  <a:schemeClr val="dk1"/>
                </a:solidFill>
                <a:latin typeface="Calibri"/>
                <a:ea typeface="Calibri"/>
                <a:cs typeface="Calibri"/>
                <a:sym typeface="Calibri"/>
              </a:rPr>
              <a:t>, the goal was to </a:t>
            </a:r>
            <a:r>
              <a:rPr lang="en-US" sz="2400" b="1" i="0" u="none" strike="noStrike" cap="none" dirty="0">
                <a:solidFill>
                  <a:schemeClr val="dk1"/>
                </a:solidFill>
                <a:latin typeface="Calibri"/>
                <a:ea typeface="Calibri"/>
                <a:cs typeface="Calibri"/>
                <a:sym typeface="Calibri"/>
              </a:rPr>
              <a:t>admit the best students</a:t>
            </a:r>
            <a:r>
              <a:rPr lang="en-US" sz="2400" b="0" i="0" u="none" strike="noStrike" cap="none" dirty="0">
                <a:solidFill>
                  <a:schemeClr val="dk1"/>
                </a:solidFill>
                <a:latin typeface="Calibri"/>
                <a:ea typeface="Calibri"/>
                <a:cs typeface="Calibri"/>
                <a:sym typeface="Calibri"/>
              </a:rPr>
              <a:t>, but the algorithm is </a:t>
            </a:r>
            <a:r>
              <a:rPr lang="en-US" sz="2400" b="1" i="0" u="none" strike="noStrike" cap="none" dirty="0">
                <a:solidFill>
                  <a:schemeClr val="dk1"/>
                </a:solidFill>
                <a:latin typeface="Calibri"/>
                <a:ea typeface="Calibri"/>
                <a:cs typeface="Calibri"/>
                <a:sym typeface="Calibri"/>
              </a:rPr>
              <a:t>biased against Squares </a:t>
            </a:r>
            <a:r>
              <a:rPr lang="en-US" sz="2400" b="0" i="0" u="none" strike="noStrike" cap="none" dirty="0">
                <a:solidFill>
                  <a:schemeClr val="dk1"/>
                </a:solidFill>
                <a:latin typeface="Calibri"/>
                <a:ea typeface="Calibri"/>
                <a:cs typeface="Calibri"/>
                <a:sym typeface="Calibri"/>
              </a:rPr>
              <a:t>for reasons other than their academic abilities.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2ffaff14bca_0_2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kinds of bias - evaluation bias</a:t>
            </a:r>
            <a:endParaRPr/>
          </a:p>
        </p:txBody>
      </p:sp>
      <p:sp>
        <p:nvSpPr>
          <p:cNvPr id="450" name="Google Shape;450;g2ffaff14bca_0_21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dk1"/>
              </a:buClr>
              <a:buSzPts val="2800"/>
              <a:buNone/>
            </a:pPr>
            <a:r>
              <a:rPr lang="en-US" dirty="0"/>
              <a:t>After training, a classification algorithm must be tested on a different set of data, to measure its performance on samples it has not seen before.</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If the </a:t>
            </a:r>
            <a:r>
              <a:rPr lang="en-US" b="1" dirty="0">
                <a:solidFill>
                  <a:srgbClr val="BF9000"/>
                </a:solidFill>
              </a:rPr>
              <a:t>testing set</a:t>
            </a:r>
            <a:r>
              <a:rPr lang="en-US" dirty="0"/>
              <a:t> is biased in a </a:t>
            </a:r>
            <a:r>
              <a:rPr lang="en-US" b="1" dirty="0"/>
              <a:t>similar</a:t>
            </a:r>
            <a:r>
              <a:rPr lang="en-US" dirty="0"/>
              <a:t> way as the </a:t>
            </a:r>
            <a:r>
              <a:rPr lang="en-US" b="1" dirty="0"/>
              <a:t>training set</a:t>
            </a:r>
            <a:r>
              <a:rPr lang="en-US" dirty="0"/>
              <a:t>, we will remain </a:t>
            </a:r>
            <a:r>
              <a:rPr lang="en-US" b="1" dirty="0"/>
              <a:t>unaware of possible issue </a:t>
            </a:r>
            <a:r>
              <a:rPr lang="en-US" dirty="0"/>
              <a:t>with fairness. We may also report incorrect, </a:t>
            </a:r>
            <a:r>
              <a:rPr lang="en-US" b="1" dirty="0"/>
              <a:t>overly-confident</a:t>
            </a:r>
            <a:r>
              <a:rPr lang="en-US" dirty="0"/>
              <a:t> measure of performance, and deploy an algorithm that will end up </a:t>
            </a:r>
            <a:r>
              <a:rPr lang="en-US" b="1" dirty="0"/>
              <a:t>failing</a:t>
            </a:r>
            <a:r>
              <a:rPr lang="en-US" dirty="0"/>
              <a:t> when used in the real world.</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To avoid evaluation bias, it is important that the algorithm is </a:t>
            </a:r>
            <a:r>
              <a:rPr lang="en-US" b="1" dirty="0"/>
              <a:t>tested</a:t>
            </a:r>
            <a:r>
              <a:rPr lang="en-US" dirty="0"/>
              <a:t> on a dataset that well </a:t>
            </a:r>
            <a:r>
              <a:rPr lang="en-US" b="1" dirty="0"/>
              <a:t>represents the population </a:t>
            </a:r>
            <a:r>
              <a:rPr lang="en-US" dirty="0"/>
              <a:t>it will be used by (or on).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Why does this matter?</a:t>
            </a:r>
            <a:endParaRPr/>
          </a:p>
        </p:txBody>
      </p:sp>
      <p:sp>
        <p:nvSpPr>
          <p:cNvPr id="456" name="Google Shape;456;p24"/>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fontScale="77500" lnSpcReduction="20000"/>
          </a:bodyPr>
          <a:lstStyle/>
          <a:p>
            <a:pPr marL="114300" lvl="0" indent="0" algn="l" rtl="0">
              <a:lnSpc>
                <a:spcPct val="90000"/>
              </a:lnSpc>
              <a:spcBef>
                <a:spcPts val="0"/>
              </a:spcBef>
              <a:spcAft>
                <a:spcPts val="0"/>
              </a:spcAft>
              <a:buClr>
                <a:schemeClr val="dk1"/>
              </a:buClr>
              <a:buSzPct val="100000"/>
              <a:buNone/>
            </a:pPr>
            <a:r>
              <a:rPr lang="en-US" dirty="0"/>
              <a:t>L</a:t>
            </a:r>
            <a:r>
              <a:rPr lang="en-US" dirty="0">
                <a:solidFill>
                  <a:schemeClr val="dk1"/>
                </a:solidFill>
              </a:rPr>
              <a:t>earning algorithms are becoming increasingly popular and their application widespread, because they are:</a:t>
            </a:r>
            <a:endParaRPr dirty="0"/>
          </a:p>
          <a:p>
            <a:pPr marL="228600" lvl="0" indent="-228600" algn="l" rtl="0">
              <a:lnSpc>
                <a:spcPct val="90000"/>
              </a:lnSpc>
              <a:spcBef>
                <a:spcPts val="1000"/>
              </a:spcBef>
              <a:spcAft>
                <a:spcPts val="0"/>
              </a:spcAft>
              <a:buClr>
                <a:schemeClr val="dk1"/>
              </a:buClr>
              <a:buSzPct val="100000"/>
              <a:buChar char="•"/>
            </a:pPr>
            <a:r>
              <a:rPr lang="en-US" dirty="0">
                <a:solidFill>
                  <a:schemeClr val="dk1"/>
                </a:solidFill>
              </a:rPr>
              <a:t>Cheap</a:t>
            </a:r>
            <a:endParaRPr dirty="0"/>
          </a:p>
          <a:p>
            <a:pPr marL="228600" lvl="0" indent="-228600" algn="l" rtl="0">
              <a:lnSpc>
                <a:spcPct val="90000"/>
              </a:lnSpc>
              <a:spcBef>
                <a:spcPts val="1000"/>
              </a:spcBef>
              <a:spcAft>
                <a:spcPts val="0"/>
              </a:spcAft>
              <a:buClr>
                <a:schemeClr val="dk1"/>
              </a:buClr>
              <a:buSzPct val="100000"/>
              <a:buChar char="•"/>
            </a:pPr>
            <a:r>
              <a:rPr lang="en-US" dirty="0">
                <a:solidFill>
                  <a:schemeClr val="dk1"/>
                </a:solidFill>
              </a:rPr>
              <a:t>Scalable </a:t>
            </a:r>
            <a:endParaRPr dirty="0"/>
          </a:p>
          <a:p>
            <a:pPr marL="228600" lvl="0" indent="-228600" algn="l" rtl="0">
              <a:lnSpc>
                <a:spcPct val="90000"/>
              </a:lnSpc>
              <a:spcBef>
                <a:spcPts val="1000"/>
              </a:spcBef>
              <a:spcAft>
                <a:spcPts val="0"/>
              </a:spcAft>
              <a:buClr>
                <a:schemeClr val="dk1"/>
              </a:buClr>
              <a:buSzPct val="100000"/>
              <a:buChar char="•"/>
            </a:pPr>
            <a:r>
              <a:rPr lang="en-US" dirty="0">
                <a:solidFill>
                  <a:schemeClr val="dk1"/>
                </a:solidFill>
              </a:rPr>
              <a:t>Automated </a:t>
            </a:r>
            <a:endParaRPr dirty="0"/>
          </a:p>
          <a:p>
            <a:pPr marL="228600" lvl="0" indent="-90804" algn="l" rtl="0">
              <a:lnSpc>
                <a:spcPct val="90000"/>
              </a:lnSpc>
              <a:spcBef>
                <a:spcPts val="1000"/>
              </a:spcBef>
              <a:spcAft>
                <a:spcPts val="0"/>
              </a:spcAft>
              <a:buClr>
                <a:schemeClr val="dk1"/>
              </a:buClr>
              <a:buSzPct val="100000"/>
              <a:buNone/>
            </a:pPr>
            <a:endParaRPr dirty="0">
              <a:solidFill>
                <a:schemeClr val="dk1"/>
              </a:solidFill>
            </a:endParaRPr>
          </a:p>
          <a:p>
            <a:pPr marL="0" lvl="0" indent="0" algn="l" rtl="0">
              <a:lnSpc>
                <a:spcPct val="90000"/>
              </a:lnSpc>
              <a:spcBef>
                <a:spcPts val="1000"/>
              </a:spcBef>
              <a:spcAft>
                <a:spcPts val="0"/>
              </a:spcAft>
              <a:buClr>
                <a:schemeClr val="dk1"/>
              </a:buClr>
              <a:buSzPct val="100000"/>
              <a:buNone/>
            </a:pPr>
            <a:r>
              <a:rPr lang="en-US" dirty="0">
                <a:solidFill>
                  <a:schemeClr val="dk1"/>
                </a:solidFill>
              </a:rPr>
              <a:t>Unfortunately, they are also:</a:t>
            </a:r>
            <a:endParaRPr dirty="0"/>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Seemingly objective </a:t>
            </a:r>
            <a:r>
              <a:rPr lang="en-US" dirty="0">
                <a:solidFill>
                  <a:schemeClr val="dk1"/>
                </a:solidFill>
              </a:rPr>
              <a:t>- for years, the idea of bias in algorithms was rejected, because it was thought that, because </a:t>
            </a:r>
            <a:r>
              <a:rPr lang="en-US" b="1" dirty="0">
                <a:solidFill>
                  <a:schemeClr val="dk1"/>
                </a:solidFill>
              </a:rPr>
              <a:t>machines d</a:t>
            </a:r>
            <a:r>
              <a:rPr lang="en-US" b="1" dirty="0"/>
              <a:t>o </a:t>
            </a:r>
            <a:r>
              <a:rPr lang="en-US" b="1" dirty="0">
                <a:solidFill>
                  <a:schemeClr val="dk1"/>
                </a:solidFill>
              </a:rPr>
              <a:t>not have emotions</a:t>
            </a:r>
            <a:r>
              <a:rPr lang="en-US" dirty="0"/>
              <a:t>, they </a:t>
            </a:r>
            <a:r>
              <a:rPr lang="en-US" dirty="0">
                <a:solidFill>
                  <a:schemeClr val="dk1"/>
                </a:solidFill>
              </a:rPr>
              <a:t>could not be sexist, racist, etc.</a:t>
            </a:r>
            <a:endParaRPr dirty="0"/>
          </a:p>
          <a:p>
            <a:pPr marL="228600" lvl="0" indent="-228600" algn="l" rtl="0">
              <a:lnSpc>
                <a:spcPct val="90000"/>
              </a:lnSpc>
              <a:spcBef>
                <a:spcPts val="1000"/>
              </a:spcBef>
              <a:spcAft>
                <a:spcPts val="0"/>
              </a:spcAft>
              <a:buClr>
                <a:schemeClr val="dk1"/>
              </a:buClr>
              <a:buSzPct val="100000"/>
              <a:buChar char="•"/>
            </a:pPr>
            <a:r>
              <a:rPr lang="en-US" dirty="0">
                <a:solidFill>
                  <a:schemeClr val="dk1"/>
                </a:solidFill>
              </a:rPr>
              <a:t>Often </a:t>
            </a:r>
            <a:r>
              <a:rPr lang="en-US" b="1" dirty="0">
                <a:solidFill>
                  <a:schemeClr val="dk1"/>
                </a:solidFill>
              </a:rPr>
              <a:t>lacking appeal processes</a:t>
            </a:r>
            <a:r>
              <a:rPr lang="en-US" dirty="0">
                <a:solidFill>
                  <a:schemeClr val="dk1"/>
                </a:solidFill>
              </a:rPr>
              <a:t>, because the </a:t>
            </a:r>
            <a:r>
              <a:rPr lang="en-US" b="1" dirty="0">
                <a:solidFill>
                  <a:schemeClr val="dk1"/>
                </a:solidFill>
              </a:rPr>
              <a:t>responsibility</a:t>
            </a:r>
            <a:r>
              <a:rPr lang="en-US" dirty="0">
                <a:solidFill>
                  <a:schemeClr val="dk1"/>
                </a:solidFill>
              </a:rPr>
              <a:t> of a wrong prediction is difficult to assign (is it the programmer’s fault? Or the client’s?)</a:t>
            </a:r>
            <a:endParaRPr dirty="0"/>
          </a:p>
          <a:p>
            <a:pPr marL="228600" lvl="0" indent="-228600" algn="l" rtl="0">
              <a:lnSpc>
                <a:spcPct val="90000"/>
              </a:lnSpc>
              <a:spcBef>
                <a:spcPts val="1000"/>
              </a:spcBef>
              <a:spcAft>
                <a:spcPts val="0"/>
              </a:spcAft>
              <a:buClr>
                <a:schemeClr val="dk1"/>
              </a:buClr>
              <a:buSzPct val="100000"/>
              <a:buChar char="•"/>
            </a:pPr>
            <a:r>
              <a:rPr lang="en-US" dirty="0">
                <a:solidFill>
                  <a:schemeClr val="dk1"/>
                </a:solidFill>
              </a:rPr>
              <a:t>Not just predicting but also </a:t>
            </a:r>
            <a:r>
              <a:rPr lang="en-US" b="1" dirty="0">
                <a:solidFill>
                  <a:schemeClr val="dk1"/>
                </a:solidFill>
              </a:rPr>
              <a:t>causing the future </a:t>
            </a:r>
            <a:r>
              <a:rPr lang="en-US" dirty="0">
                <a:solidFill>
                  <a:schemeClr val="dk1"/>
                </a:solidFill>
              </a:rPr>
              <a:t>– decision algorithms can significantly influence the world on which future algorithms will be based, creating a </a:t>
            </a:r>
            <a:r>
              <a:rPr lang="en-US" b="1" dirty="0">
                <a:solidFill>
                  <a:schemeClr val="dk1"/>
                </a:solidFill>
              </a:rPr>
              <a:t>vicious cycle</a:t>
            </a:r>
            <a:r>
              <a:rPr lang="en-US" dirty="0">
                <a:solidFill>
                  <a:schemeClr val="dk1"/>
                </a:solidFill>
              </a:rPr>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Measuring fairness</a:t>
            </a:r>
            <a:endParaRPr/>
          </a:p>
        </p:txBody>
      </p:sp>
      <p:sp>
        <p:nvSpPr>
          <p:cNvPr id="462" name="Google Shape;462;p25"/>
          <p:cNvSpPr txBox="1">
            <a:spLocks noGrp="1"/>
          </p:cNvSpPr>
          <p:nvPr>
            <p:ph type="body" idx="1"/>
          </p:nvPr>
        </p:nvSpPr>
        <p:spPr>
          <a:xfrm>
            <a:off x="831153" y="1634219"/>
            <a:ext cx="10515600" cy="5032375"/>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dirty="0"/>
              <a:t>As seen before, high accuracy does not guarantee fairness</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r>
              <a:rPr lang="en-US" dirty="0"/>
              <a:t>Other metrics can be used to measure fairness of an algorithm, for example:</a:t>
            </a:r>
            <a:endParaRPr dirty="0"/>
          </a:p>
          <a:p>
            <a:pPr marL="228600" lvl="0" indent="-228600" algn="l" rtl="0">
              <a:lnSpc>
                <a:spcPct val="90000"/>
              </a:lnSpc>
              <a:spcBef>
                <a:spcPts val="1000"/>
              </a:spcBef>
              <a:spcAft>
                <a:spcPts val="0"/>
              </a:spcAft>
              <a:buClr>
                <a:schemeClr val="dk1"/>
              </a:buClr>
              <a:buSzPct val="100000"/>
              <a:buChar char="•"/>
            </a:pPr>
            <a:r>
              <a:rPr lang="en-US" b="1" i="0" dirty="0">
                <a:solidFill>
                  <a:schemeClr val="dk1"/>
                </a:solidFill>
              </a:rPr>
              <a:t>statistical parity: </a:t>
            </a:r>
            <a:r>
              <a:rPr lang="en-US" i="0" dirty="0">
                <a:solidFill>
                  <a:schemeClr val="dk1"/>
                </a:solidFill>
              </a:rPr>
              <a:t>whether the rates of </a:t>
            </a:r>
            <a:r>
              <a:rPr lang="en-US" i="1" dirty="0">
                <a:solidFill>
                  <a:schemeClr val="dk1"/>
                </a:solidFill>
              </a:rPr>
              <a:t>positive predictions</a:t>
            </a:r>
            <a:r>
              <a:rPr lang="en-US" i="0" dirty="0">
                <a:solidFill>
                  <a:schemeClr val="dk1"/>
                </a:solidFill>
              </a:rPr>
              <a:t> are on par across groups</a:t>
            </a:r>
            <a:endParaRPr dirty="0"/>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equal opportunity: </a:t>
            </a:r>
            <a:r>
              <a:rPr lang="en-US" i="0" dirty="0">
                <a:solidFill>
                  <a:schemeClr val="dk1"/>
                </a:solidFill>
              </a:rPr>
              <a:t>whether the ratios of </a:t>
            </a:r>
            <a:r>
              <a:rPr lang="en-US" i="1" dirty="0">
                <a:solidFill>
                  <a:schemeClr val="dk1"/>
                </a:solidFill>
              </a:rPr>
              <a:t>false negative to actual positives</a:t>
            </a:r>
            <a:r>
              <a:rPr lang="en-US" i="0" dirty="0">
                <a:solidFill>
                  <a:schemeClr val="dk1"/>
                </a:solidFill>
              </a:rPr>
              <a:t> are on par across groups</a:t>
            </a:r>
            <a:endParaRPr lang="en-US" b="1" dirty="0">
              <a:solidFill>
                <a:schemeClr val="dk1"/>
              </a:solidFill>
            </a:endParaRPr>
          </a:p>
          <a:p>
            <a:pPr marL="228600" lvl="0" indent="-228600" algn="l" rtl="0">
              <a:lnSpc>
                <a:spcPct val="90000"/>
              </a:lnSpc>
              <a:spcBef>
                <a:spcPts val="1000"/>
              </a:spcBef>
              <a:spcAft>
                <a:spcPts val="0"/>
              </a:spcAft>
              <a:buClr>
                <a:schemeClr val="dk1"/>
              </a:buClr>
              <a:buSzPct val="100000"/>
              <a:buChar char="•"/>
            </a:pPr>
            <a:r>
              <a:rPr lang="en-US" b="1" dirty="0">
                <a:solidFill>
                  <a:schemeClr val="dk1"/>
                </a:solidFill>
              </a:rPr>
              <a:t>predictive equality: </a:t>
            </a:r>
            <a:r>
              <a:rPr lang="en-US" i="0" dirty="0">
                <a:solidFill>
                  <a:schemeClr val="dk1"/>
                </a:solidFill>
              </a:rPr>
              <a:t>whether the ratios of </a:t>
            </a:r>
            <a:r>
              <a:rPr lang="en-US" i="1" dirty="0">
                <a:solidFill>
                  <a:schemeClr val="dk1"/>
                </a:solidFill>
              </a:rPr>
              <a:t>false </a:t>
            </a:r>
            <a:r>
              <a:rPr lang="en-US" i="1" dirty="0"/>
              <a:t>positives</a:t>
            </a:r>
            <a:r>
              <a:rPr lang="en-US" i="1" dirty="0">
                <a:solidFill>
                  <a:schemeClr val="dk1"/>
                </a:solidFill>
              </a:rPr>
              <a:t> to </a:t>
            </a:r>
            <a:r>
              <a:rPr lang="en-US" i="1" dirty="0"/>
              <a:t>actual</a:t>
            </a:r>
            <a:r>
              <a:rPr lang="en-US" i="1" dirty="0">
                <a:solidFill>
                  <a:schemeClr val="dk1"/>
                </a:solidFill>
              </a:rPr>
              <a:t> negatives</a:t>
            </a:r>
            <a:r>
              <a:rPr lang="en-US" i="0" dirty="0">
                <a:solidFill>
                  <a:schemeClr val="dk1"/>
                </a:solidFill>
              </a:rPr>
              <a:t> are on par across groups</a:t>
            </a:r>
            <a:endParaRPr lang="en-US" dirty="0"/>
          </a:p>
        </p:txBody>
      </p:sp>
      <p:grpSp>
        <p:nvGrpSpPr>
          <p:cNvPr id="463" name="Google Shape;463;p25"/>
          <p:cNvGrpSpPr/>
          <p:nvPr/>
        </p:nvGrpSpPr>
        <p:grpSpPr>
          <a:xfrm>
            <a:off x="838200" y="2182692"/>
            <a:ext cx="10101942" cy="1989014"/>
            <a:chOff x="838200" y="2264337"/>
            <a:chExt cx="10101942" cy="1989014"/>
          </a:xfrm>
        </p:grpSpPr>
        <p:grpSp>
          <p:nvGrpSpPr>
            <p:cNvPr id="464" name="Google Shape;464;p25"/>
            <p:cNvGrpSpPr/>
            <p:nvPr/>
          </p:nvGrpSpPr>
          <p:grpSpPr>
            <a:xfrm>
              <a:off x="838200" y="2842038"/>
              <a:ext cx="10101942" cy="1173924"/>
              <a:chOff x="1406770" y="3568362"/>
              <a:chExt cx="7576457" cy="880443"/>
            </a:xfrm>
          </p:grpSpPr>
          <p:cxnSp>
            <p:nvCxnSpPr>
              <p:cNvPr id="465" name="Google Shape;465;p25"/>
              <p:cNvCxnSpPr/>
              <p:nvPr/>
            </p:nvCxnSpPr>
            <p:spPr>
              <a:xfrm>
                <a:off x="1406770" y="3697793"/>
                <a:ext cx="7576456" cy="0"/>
              </a:xfrm>
              <a:prstGeom prst="straightConnector1">
                <a:avLst/>
              </a:prstGeom>
              <a:noFill/>
              <a:ln w="12700" cap="flat" cmpd="sng">
                <a:solidFill>
                  <a:schemeClr val="dk1"/>
                </a:solidFill>
                <a:prstDash val="solid"/>
                <a:miter lim="800000"/>
                <a:headEnd type="none" w="sm" len="sm"/>
                <a:tailEnd type="triangle" w="med" len="med"/>
              </a:ln>
            </p:spPr>
          </p:cxnSp>
          <p:sp>
            <p:nvSpPr>
              <p:cNvPr id="466" name="Google Shape;466;p25"/>
              <p:cNvSpPr txBox="1"/>
              <p:nvPr/>
            </p:nvSpPr>
            <p:spPr>
              <a:xfrm>
                <a:off x="7516168" y="3825557"/>
                <a:ext cx="1467059" cy="62324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Admission test scores</a:t>
                </a:r>
                <a:endParaRPr sz="1400" b="0" i="0" u="none" strike="noStrike" cap="none">
                  <a:solidFill>
                    <a:srgbClr val="000000"/>
                  </a:solidFill>
                  <a:latin typeface="Arial"/>
                  <a:ea typeface="Arial"/>
                  <a:cs typeface="Arial"/>
                  <a:sym typeface="Arial"/>
                </a:endParaRPr>
              </a:p>
            </p:txBody>
          </p:sp>
          <p:sp>
            <p:nvSpPr>
              <p:cNvPr id="467" name="Google Shape;467;p25"/>
              <p:cNvSpPr/>
              <p:nvPr/>
            </p:nvSpPr>
            <p:spPr>
              <a:xfrm>
                <a:off x="2049863"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8" name="Google Shape;468;p25"/>
              <p:cNvSpPr/>
              <p:nvPr/>
            </p:nvSpPr>
            <p:spPr>
              <a:xfrm>
                <a:off x="344998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69" name="Google Shape;469;p25"/>
              <p:cNvSpPr/>
              <p:nvPr/>
            </p:nvSpPr>
            <p:spPr>
              <a:xfrm>
                <a:off x="2819704"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0" name="Google Shape;470;p25"/>
              <p:cNvSpPr/>
              <p:nvPr/>
            </p:nvSpPr>
            <p:spPr>
              <a:xfrm>
                <a:off x="3232923"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1" name="Google Shape;471;p25"/>
              <p:cNvSpPr/>
              <p:nvPr/>
            </p:nvSpPr>
            <p:spPr>
              <a:xfrm>
                <a:off x="2597397" y="3592285"/>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2" name="Google Shape;472;p25"/>
              <p:cNvSpPr/>
              <p:nvPr/>
            </p:nvSpPr>
            <p:spPr>
              <a:xfrm>
                <a:off x="3023609" y="3592284"/>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3" name="Google Shape;473;p25"/>
              <p:cNvSpPr/>
              <p:nvPr/>
            </p:nvSpPr>
            <p:spPr>
              <a:xfrm>
                <a:off x="3748329"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4" name="Google Shape;474;p25"/>
              <p:cNvSpPr/>
              <p:nvPr/>
            </p:nvSpPr>
            <p:spPr>
              <a:xfrm>
                <a:off x="4053105"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5" name="Google Shape;475;p25"/>
              <p:cNvSpPr/>
              <p:nvPr/>
            </p:nvSpPr>
            <p:spPr>
              <a:xfrm>
                <a:off x="4356500" y="359563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6" name="Google Shape;476;p25"/>
              <p:cNvSpPr/>
              <p:nvPr/>
            </p:nvSpPr>
            <p:spPr>
              <a:xfrm>
                <a:off x="4654280" y="359228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7" name="Google Shape;477;p25"/>
              <p:cNvSpPr/>
              <p:nvPr/>
            </p:nvSpPr>
            <p:spPr>
              <a:xfrm>
                <a:off x="6021166"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8" name="Google Shape;478;p25"/>
              <p:cNvSpPr/>
              <p:nvPr/>
            </p:nvSpPr>
            <p:spPr>
              <a:xfrm>
                <a:off x="5740524"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79" name="Google Shape;479;p25"/>
              <p:cNvSpPr/>
              <p:nvPr/>
            </p:nvSpPr>
            <p:spPr>
              <a:xfrm>
                <a:off x="5467864"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0" name="Google Shape;480;p25"/>
              <p:cNvSpPr/>
              <p:nvPr/>
            </p:nvSpPr>
            <p:spPr>
              <a:xfrm>
                <a:off x="7669642" y="3575048"/>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1" name="Google Shape;481;p25"/>
              <p:cNvSpPr/>
              <p:nvPr/>
            </p:nvSpPr>
            <p:spPr>
              <a:xfrm>
                <a:off x="7389000" y="3573374"/>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2" name="Google Shape;482;p25"/>
              <p:cNvSpPr/>
              <p:nvPr/>
            </p:nvSpPr>
            <p:spPr>
              <a:xfrm>
                <a:off x="7116340" y="3583425"/>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3" name="Google Shape;483;p25"/>
              <p:cNvSpPr/>
              <p:nvPr/>
            </p:nvSpPr>
            <p:spPr>
              <a:xfrm>
                <a:off x="6848857" y="3573860"/>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4" name="Google Shape;484;p25"/>
              <p:cNvSpPr/>
              <p:nvPr/>
            </p:nvSpPr>
            <p:spPr>
              <a:xfrm>
                <a:off x="6568215"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5" name="Google Shape;485;p25"/>
              <p:cNvSpPr/>
              <p:nvPr/>
            </p:nvSpPr>
            <p:spPr>
              <a:xfrm>
                <a:off x="6295555" y="3582237"/>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6" name="Google Shape;486;p25"/>
              <p:cNvSpPr/>
              <p:nvPr/>
            </p:nvSpPr>
            <p:spPr>
              <a:xfrm>
                <a:off x="8505652" y="3572186"/>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7" name="Google Shape;487;p25"/>
              <p:cNvSpPr/>
              <p:nvPr/>
            </p:nvSpPr>
            <p:spPr>
              <a:xfrm>
                <a:off x="8225010" y="3570512"/>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8" name="Google Shape;488;p25"/>
              <p:cNvSpPr/>
              <p:nvPr/>
            </p:nvSpPr>
            <p:spPr>
              <a:xfrm>
                <a:off x="7952350" y="3580563"/>
                <a:ext cx="231112" cy="231112"/>
              </a:xfrm>
              <a:prstGeom prst="ellipse">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89" name="Google Shape;489;p25"/>
              <p:cNvSpPr/>
              <p:nvPr/>
            </p:nvSpPr>
            <p:spPr>
              <a:xfrm>
                <a:off x="5209671"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490" name="Google Shape;490;p25"/>
              <p:cNvSpPr/>
              <p:nvPr/>
            </p:nvSpPr>
            <p:spPr>
              <a:xfrm>
                <a:off x="4992605" y="3568362"/>
                <a:ext cx="171418" cy="2332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sp>
          <p:nvSpPr>
            <p:cNvPr id="491" name="Google Shape;491;p25"/>
            <p:cNvSpPr txBox="1"/>
            <p:nvPr/>
          </p:nvSpPr>
          <p:spPr>
            <a:xfrm>
              <a:off x="2654260" y="2514411"/>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2" name="Google Shape;492;p25"/>
            <p:cNvSpPr txBox="1"/>
            <p:nvPr/>
          </p:nvSpPr>
          <p:spPr>
            <a:xfrm>
              <a:off x="3500134" y="25144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3" name="Google Shape;493;p25"/>
            <p:cNvSpPr txBox="1"/>
            <p:nvPr/>
          </p:nvSpPr>
          <p:spPr>
            <a:xfrm>
              <a:off x="3209218" y="2521298"/>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4" name="Google Shape;494;p25"/>
            <p:cNvSpPr txBox="1"/>
            <p:nvPr/>
          </p:nvSpPr>
          <p:spPr>
            <a:xfrm>
              <a:off x="5835430" y="251440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5" name="Google Shape;495;p25"/>
            <p:cNvSpPr txBox="1"/>
            <p:nvPr/>
          </p:nvSpPr>
          <p:spPr>
            <a:xfrm>
              <a:off x="5556616" y="2514407"/>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6" name="Google Shape;496;p25"/>
            <p:cNvSpPr txBox="1"/>
            <p:nvPr/>
          </p:nvSpPr>
          <p:spPr>
            <a:xfrm>
              <a:off x="4741970" y="2514408"/>
              <a:ext cx="38514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7" name="Google Shape;497;p25"/>
            <p:cNvSpPr txBox="1"/>
            <p:nvPr/>
          </p:nvSpPr>
          <p:spPr>
            <a:xfrm>
              <a:off x="9142893" y="246511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8" name="Google Shape;498;p25"/>
            <p:cNvSpPr txBox="1"/>
            <p:nvPr/>
          </p:nvSpPr>
          <p:spPr>
            <a:xfrm>
              <a:off x="8071336" y="2492860"/>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99" name="Google Shape;499;p25"/>
            <p:cNvSpPr txBox="1"/>
            <p:nvPr/>
          </p:nvSpPr>
          <p:spPr>
            <a:xfrm>
              <a:off x="7682504"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0" name="Google Shape;500;p25"/>
            <p:cNvSpPr txBox="1"/>
            <p:nvPr/>
          </p:nvSpPr>
          <p:spPr>
            <a:xfrm>
              <a:off x="7324482" y="249286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1" name="Google Shape;501;p25"/>
            <p:cNvSpPr txBox="1"/>
            <p:nvPr/>
          </p:nvSpPr>
          <p:spPr>
            <a:xfrm>
              <a:off x="10273090" y="2459756"/>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2" name="Google Shape;502;p25"/>
            <p:cNvSpPr txBox="1"/>
            <p:nvPr/>
          </p:nvSpPr>
          <p:spPr>
            <a:xfrm>
              <a:off x="9884258"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3" name="Google Shape;503;p25"/>
            <p:cNvSpPr txBox="1"/>
            <p:nvPr/>
          </p:nvSpPr>
          <p:spPr>
            <a:xfrm>
              <a:off x="9526237" y="2459759"/>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4" name="Google Shape;504;p25"/>
            <p:cNvSpPr txBox="1"/>
            <p:nvPr/>
          </p:nvSpPr>
          <p:spPr>
            <a:xfrm>
              <a:off x="8409120" y="2493123"/>
              <a:ext cx="3385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5" name="Google Shape;505;p25"/>
            <p:cNvSpPr txBox="1"/>
            <p:nvPr/>
          </p:nvSpPr>
          <p:spPr>
            <a:xfrm>
              <a:off x="8809469" y="246828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6" name="Google Shape;506;p25"/>
            <p:cNvSpPr txBox="1"/>
            <p:nvPr/>
          </p:nvSpPr>
          <p:spPr>
            <a:xfrm>
              <a:off x="7004125"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7" name="Google Shape;507;p25"/>
            <p:cNvSpPr txBox="1"/>
            <p:nvPr/>
          </p:nvSpPr>
          <p:spPr>
            <a:xfrm>
              <a:off x="6616929"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8" name="Google Shape;508;p25"/>
            <p:cNvSpPr txBox="1"/>
            <p:nvPr/>
          </p:nvSpPr>
          <p:spPr>
            <a:xfrm>
              <a:off x="6243922" y="2494039"/>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09" name="Google Shape;509;p25"/>
            <p:cNvSpPr txBox="1"/>
            <p:nvPr/>
          </p:nvSpPr>
          <p:spPr>
            <a:xfrm>
              <a:off x="1656788" y="2493532"/>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0" name="Google Shape;510;p25"/>
            <p:cNvSpPr txBox="1"/>
            <p:nvPr/>
          </p:nvSpPr>
          <p:spPr>
            <a:xfrm>
              <a:off x="2395049" y="2488547"/>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1" name="Google Shape;511;p25"/>
            <p:cNvSpPr txBox="1"/>
            <p:nvPr/>
          </p:nvSpPr>
          <p:spPr>
            <a:xfrm>
              <a:off x="2973649"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2" name="Google Shape;512;p25"/>
            <p:cNvSpPr txBox="1"/>
            <p:nvPr/>
          </p:nvSpPr>
          <p:spPr>
            <a:xfrm>
              <a:off x="3950012"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3" name="Google Shape;513;p25"/>
            <p:cNvSpPr txBox="1"/>
            <p:nvPr/>
          </p:nvSpPr>
          <p:spPr>
            <a:xfrm>
              <a:off x="4364826" y="2480140"/>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514" name="Google Shape;514;p25"/>
            <p:cNvSpPr txBox="1"/>
            <p:nvPr/>
          </p:nvSpPr>
          <p:spPr>
            <a:xfrm>
              <a:off x="5169857" y="2490628"/>
              <a:ext cx="27924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cxnSp>
          <p:nvCxnSpPr>
            <p:cNvPr id="515" name="Google Shape;515;p25"/>
            <p:cNvCxnSpPr/>
            <p:nvPr/>
          </p:nvCxnSpPr>
          <p:spPr>
            <a:xfrm>
              <a:off x="7329785" y="2264337"/>
              <a:ext cx="0" cy="1527349"/>
            </a:xfrm>
            <a:prstGeom prst="straightConnector1">
              <a:avLst/>
            </a:prstGeom>
            <a:noFill/>
            <a:ln w="9525" cap="flat" cmpd="sng">
              <a:solidFill>
                <a:schemeClr val="accent6"/>
              </a:solidFill>
              <a:prstDash val="dash"/>
              <a:round/>
              <a:headEnd type="none" w="sm" len="sm"/>
              <a:tailEnd type="none" w="sm" len="sm"/>
            </a:ln>
          </p:spPr>
        </p:cxnSp>
        <p:sp>
          <p:nvSpPr>
            <p:cNvPr id="516" name="Google Shape;516;p25"/>
            <p:cNvSpPr txBox="1"/>
            <p:nvPr/>
          </p:nvSpPr>
          <p:spPr>
            <a:xfrm>
              <a:off x="6168090" y="3791686"/>
              <a:ext cx="228286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6"/>
                  </a:solidFill>
                  <a:latin typeface="Calibri"/>
                  <a:ea typeface="Calibri"/>
                  <a:cs typeface="Calibri"/>
                  <a:sym typeface="Calibri"/>
                </a:rPr>
                <a:t>Highest accuracy</a:t>
              </a:r>
              <a:endParaRPr sz="1400" b="0" i="0" u="none" strike="noStrike" cap="non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5A2654A6-05A6-4D19-BEA8-EF299600C345}"/>
              </a:ext>
            </a:extLst>
          </p:cNvPr>
          <p:cNvSpPr txBox="1"/>
          <p:nvPr/>
        </p:nvSpPr>
        <p:spPr>
          <a:xfrm>
            <a:off x="5908734" y="6492875"/>
            <a:ext cx="6198944" cy="307777"/>
          </a:xfrm>
          <a:prstGeom prst="rect">
            <a:avLst/>
          </a:prstGeom>
          <a:noFill/>
        </p:spPr>
        <p:txBody>
          <a:bodyPr wrap="square" rtlCol="0">
            <a:spAutoFit/>
          </a:bodyPr>
          <a:lstStyle/>
          <a:p>
            <a:pPr algn="r"/>
            <a:r>
              <a:rPr lang="en-CA" dirty="0"/>
              <a:t>Source: </a:t>
            </a:r>
            <a:r>
              <a:rPr lang="en-CA" dirty="0">
                <a:hlinkClick r:id="rId3"/>
              </a:rPr>
              <a:t>https://dl.acm.org/doi/pdf/10.1145/3194770.3194776</a:t>
            </a:r>
            <a:r>
              <a:rPr lang="en-CA"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DC418C-7972-402C-919F-4B2C91DF6F94}"/>
              </a:ext>
            </a:extLst>
          </p:cNvPr>
          <p:cNvSpPr>
            <a:spLocks noGrp="1"/>
          </p:cNvSpPr>
          <p:nvPr>
            <p:ph type="title"/>
          </p:nvPr>
        </p:nvSpPr>
        <p:spPr/>
        <p:txBody>
          <a:bodyPr/>
          <a:lstStyle/>
          <a:p>
            <a:r>
              <a:rPr lang="en-CA" dirty="0"/>
              <a:t>Additional topics</a:t>
            </a:r>
          </a:p>
        </p:txBody>
      </p:sp>
      <p:sp>
        <p:nvSpPr>
          <p:cNvPr id="5" name="Text Placeholder 4">
            <a:extLst>
              <a:ext uri="{FF2B5EF4-FFF2-40B4-BE49-F238E27FC236}">
                <a16:creationId xmlns:a16="http://schemas.microsoft.com/office/drawing/2014/main" id="{167D739D-3A2E-46E2-8F59-1FC51BF1AA6B}"/>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758936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2ffaff14bca_0_3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AI and the environment</a:t>
            </a:r>
            <a:endParaRPr/>
          </a:p>
        </p:txBody>
      </p:sp>
      <p:sp>
        <p:nvSpPr>
          <p:cNvPr id="161" name="Google Shape;161;g2ffaff14bca_0_372"/>
          <p:cNvSpPr txBox="1">
            <a:spLocks noGrp="1"/>
          </p:cNvSpPr>
          <p:nvPr>
            <p:ph type="body" idx="1"/>
          </p:nvPr>
        </p:nvSpPr>
        <p:spPr>
          <a:xfrm>
            <a:off x="838200" y="1825625"/>
            <a:ext cx="10515600" cy="462237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dirty="0"/>
              <a:t>We have talked about how AI applications are becoming ubiquitous in society. Few people, however, including few of the developers of these systems, spend time thinking about their environmental impact. Even fewer try to evaluate this impact.</a:t>
            </a:r>
            <a:endParaRPr dirty="0"/>
          </a:p>
          <a:p>
            <a:pPr marL="0" lvl="0" indent="0" algn="l" rtl="0">
              <a:spcBef>
                <a:spcPts val="1000"/>
              </a:spcBef>
              <a:spcAft>
                <a:spcPts val="0"/>
              </a:spcAft>
              <a:buNone/>
            </a:pPr>
            <a:r>
              <a:rPr lang="en-US" dirty="0"/>
              <a:t>The </a:t>
            </a:r>
            <a:r>
              <a:rPr lang="en-US" b="1" dirty="0"/>
              <a:t>environmental cost of training and maintaining AI </a:t>
            </a:r>
            <a:r>
              <a:rPr lang="en-US" dirty="0"/>
              <a:t>algorithms is not immediately evident, but it includes:</a:t>
            </a:r>
            <a:endParaRPr dirty="0"/>
          </a:p>
          <a:p>
            <a:pPr marL="457200" lvl="0" indent="-325755" algn="l" rtl="0">
              <a:spcBef>
                <a:spcPts val="1000"/>
              </a:spcBef>
              <a:spcAft>
                <a:spcPts val="0"/>
              </a:spcAft>
              <a:buSzPct val="64285"/>
              <a:buChar char="•"/>
            </a:pPr>
            <a:r>
              <a:rPr lang="en-US" dirty="0"/>
              <a:t>The massive amount of </a:t>
            </a:r>
            <a:r>
              <a:rPr lang="en-US" b="1" dirty="0"/>
              <a:t>electricity</a:t>
            </a:r>
            <a:r>
              <a:rPr lang="en-US" dirty="0"/>
              <a:t> required. </a:t>
            </a:r>
            <a:endParaRPr dirty="0"/>
          </a:p>
          <a:p>
            <a:pPr marL="457200" lvl="0" indent="-325755" algn="l" rtl="0">
              <a:spcBef>
                <a:spcPts val="0"/>
              </a:spcBef>
              <a:spcAft>
                <a:spcPts val="0"/>
              </a:spcAft>
              <a:buSzPct val="64285"/>
              <a:buChar char="•"/>
            </a:pPr>
            <a:r>
              <a:rPr lang="en-US" dirty="0"/>
              <a:t>Depending on how that electricity is produced, there is also a variable cost in terms of </a:t>
            </a:r>
            <a:r>
              <a:rPr lang="en-US" b="1" dirty="0"/>
              <a:t>CO2 released </a:t>
            </a:r>
            <a:r>
              <a:rPr lang="en-US" dirty="0"/>
              <a:t>in the atmosphere. </a:t>
            </a:r>
            <a:endParaRPr dirty="0"/>
          </a:p>
          <a:p>
            <a:pPr marL="457200" lvl="0" indent="-325755" algn="l" rtl="0">
              <a:spcBef>
                <a:spcPts val="0"/>
              </a:spcBef>
              <a:spcAft>
                <a:spcPts val="0"/>
              </a:spcAft>
              <a:buSzPct val="64285"/>
              <a:buChar char="•"/>
            </a:pPr>
            <a:r>
              <a:rPr lang="en-US" dirty="0"/>
              <a:t>The cost of </a:t>
            </a:r>
            <a:r>
              <a:rPr lang="en-US" b="1" dirty="0"/>
              <a:t>building and maintaining the hardware </a:t>
            </a:r>
            <a:r>
              <a:rPr lang="en-US" dirty="0"/>
              <a:t>on which AI algorithms run.</a:t>
            </a:r>
            <a:endParaRPr dirty="0"/>
          </a:p>
          <a:p>
            <a:pPr marL="0" lvl="0" indent="0" algn="l" rtl="0">
              <a:spcBef>
                <a:spcPts val="1000"/>
              </a:spcBef>
              <a:spcAft>
                <a:spcPts val="0"/>
              </a:spcAft>
              <a:buNone/>
            </a:pPr>
            <a:r>
              <a:rPr lang="en-US" dirty="0"/>
              <a:t>Recent estimates of </a:t>
            </a:r>
            <a:r>
              <a:rPr lang="en-US" b="1" dirty="0"/>
              <a:t>AI’s carbon footprint</a:t>
            </a:r>
            <a:r>
              <a:rPr lang="en-US" dirty="0"/>
              <a:t> range from 2.1% to 3.9% of the total </a:t>
            </a:r>
            <a:r>
              <a:rPr lang="en-US" b="1" dirty="0"/>
              <a:t>greenhouse gas emissions</a:t>
            </a:r>
            <a:r>
              <a:rPr lang="en-US" dirty="0"/>
              <a:t>. Still a small fraction of what is produced by more polluting industries such as manufacturing (24%) and transportation (27%), but not insignificant.</a:t>
            </a:r>
          </a:p>
          <a:p>
            <a:pPr marL="0" lvl="0" indent="0" algn="l" rtl="0">
              <a:spcBef>
                <a:spcPts val="1000"/>
              </a:spcBef>
              <a:spcAft>
                <a:spcPts val="0"/>
              </a:spcAft>
              <a:buNone/>
            </a:pPr>
            <a:r>
              <a:rPr lang="en-US" dirty="0"/>
              <a:t>In 2022, 11,000 data centers worldwide accounted for </a:t>
            </a:r>
            <a:r>
              <a:rPr lang="en-US" dirty="0">
                <a:hlinkClick r:id="rId3"/>
              </a:rPr>
              <a:t>about 1.0 to 1.3% </a:t>
            </a:r>
            <a:r>
              <a:rPr lang="en-US" dirty="0"/>
              <a:t>of the global electricity consumption.</a:t>
            </a:r>
            <a:endParaRPr dirty="0"/>
          </a:p>
        </p:txBody>
      </p:sp>
      <p:sp>
        <p:nvSpPr>
          <p:cNvPr id="162" name="Google Shape;162;g2ffaff14bca_0_372"/>
          <p:cNvSpPr txBox="1"/>
          <p:nvPr/>
        </p:nvSpPr>
        <p:spPr>
          <a:xfrm>
            <a:off x="7176975" y="6311625"/>
            <a:ext cx="4875900" cy="42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50">
                <a:solidFill>
                  <a:schemeClr val="dk1"/>
                </a:solidFill>
                <a:highlight>
                  <a:srgbClr val="FFFFFF"/>
                </a:highlight>
              </a:rPr>
              <a:t>Source: </a:t>
            </a:r>
            <a:r>
              <a:rPr lang="en-US" sz="1550">
                <a:solidFill>
                  <a:schemeClr val="hlink"/>
                </a:solidFill>
                <a:highlight>
                  <a:srgbClr val="FFFFFF"/>
                </a:highlight>
                <a:uFill>
                  <a:noFill/>
                </a:uFill>
                <a:hlinkClick r:id="rId4"/>
              </a:rPr>
              <a:t>The Carbon Footprint of Artificial Intelligence</a:t>
            </a:r>
            <a:endParaRPr sz="3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43759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ffaff14bca_0_38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Accuracy-Efficiency Paradox</a:t>
            </a:r>
            <a:endParaRPr/>
          </a:p>
        </p:txBody>
      </p:sp>
      <p:sp>
        <p:nvSpPr>
          <p:cNvPr id="169" name="Google Shape;169;g2ffaff14bca_0_38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t>“</a:t>
            </a:r>
            <a:r>
              <a:rPr lang="en-US" i="1" dirty="0"/>
              <a:t>There is a </a:t>
            </a:r>
            <a:r>
              <a:rPr lang="en-US" i="1" dirty="0" err="1"/>
              <a:t>recognised</a:t>
            </a:r>
            <a:r>
              <a:rPr lang="en-US" i="1" dirty="0"/>
              <a:t> </a:t>
            </a:r>
            <a:r>
              <a:rPr lang="en-US" b="1" i="1" dirty="0"/>
              <a:t>trade-off</a:t>
            </a:r>
            <a:r>
              <a:rPr lang="en-US" i="1" dirty="0"/>
              <a:t> between model </a:t>
            </a:r>
            <a:r>
              <a:rPr lang="en-US" b="1" i="1" dirty="0"/>
              <a:t>accuracy</a:t>
            </a:r>
            <a:r>
              <a:rPr lang="en-US" i="1" dirty="0"/>
              <a:t> and energy </a:t>
            </a:r>
            <a:r>
              <a:rPr lang="en-US" b="1" i="1" dirty="0"/>
              <a:t>efficiency</a:t>
            </a:r>
            <a:r>
              <a:rPr lang="en-US" i="1" dirty="0"/>
              <a:t>. In fact, the relationship has been shown to be logarithmic. That is, </a:t>
            </a:r>
            <a:r>
              <a:rPr lang="en-US" b="1" i="1" dirty="0"/>
              <a:t>in order to achieve a linear improvement in accuracy, an exponentially larger model is required.</a:t>
            </a:r>
            <a:r>
              <a:rPr lang="en-US" i="1" dirty="0"/>
              <a:t> A recent study [...] confirmed the existence of the accuracy-energy trade off [...] and indicated a 30-50% saving in energy for training related to a 1% reduction in accuracy.”</a:t>
            </a:r>
            <a:endParaRPr i="1" dirty="0"/>
          </a:p>
          <a:p>
            <a:pPr marL="0" lvl="0" indent="0" algn="l" rtl="0">
              <a:spcBef>
                <a:spcPts val="1000"/>
              </a:spcBef>
              <a:spcAft>
                <a:spcPts val="0"/>
              </a:spcAft>
              <a:buNone/>
            </a:pPr>
            <a:endParaRPr i="1" dirty="0"/>
          </a:p>
          <a:p>
            <a:pPr marL="0" lvl="0" indent="0" algn="r" rtl="0">
              <a:spcBef>
                <a:spcPts val="1000"/>
              </a:spcBef>
              <a:spcAft>
                <a:spcPts val="0"/>
              </a:spcAft>
              <a:buNone/>
            </a:pPr>
            <a:r>
              <a:rPr lang="en-US" sz="2500" dirty="0"/>
              <a:t>Mill </a:t>
            </a:r>
            <a:r>
              <a:rPr lang="en-US" sz="2500" i="1" dirty="0"/>
              <a:t>et al.</a:t>
            </a:r>
            <a:r>
              <a:rPr lang="en-US" sz="2500" dirty="0"/>
              <a:t>, Managing Sustainability Tensions in Artificial Intelligence: Insights from Paradox Theory</a:t>
            </a:r>
            <a:endParaRPr sz="2500" dirty="0"/>
          </a:p>
        </p:txBody>
      </p:sp>
    </p:spTree>
    <p:extLst>
      <p:ext uri="{BB962C8B-B14F-4D97-AF65-F5344CB8AC3E}">
        <p14:creationId xmlns:p14="http://schemas.microsoft.com/office/powerpoint/2010/main" val="232468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2F15-F35E-4320-9790-026E33470688}"/>
              </a:ext>
            </a:extLst>
          </p:cNvPr>
          <p:cNvSpPr>
            <a:spLocks noGrp="1"/>
          </p:cNvSpPr>
          <p:nvPr>
            <p:ph type="title"/>
          </p:nvPr>
        </p:nvSpPr>
        <p:spPr/>
        <p:txBody>
          <a:bodyPr/>
          <a:lstStyle/>
          <a:p>
            <a:r>
              <a:rPr lang="en-CA" dirty="0"/>
              <a:t>The alignment problem</a:t>
            </a:r>
          </a:p>
        </p:txBody>
      </p:sp>
      <p:sp>
        <p:nvSpPr>
          <p:cNvPr id="3" name="Text Placeholder 2">
            <a:extLst>
              <a:ext uri="{FF2B5EF4-FFF2-40B4-BE49-F238E27FC236}">
                <a16:creationId xmlns:a16="http://schemas.microsoft.com/office/drawing/2014/main" id="{DD1D7CC9-DC5A-434A-BE29-E5F6581B093A}"/>
              </a:ext>
            </a:extLst>
          </p:cNvPr>
          <p:cNvSpPr>
            <a:spLocks noGrp="1"/>
          </p:cNvSpPr>
          <p:nvPr>
            <p:ph type="body" idx="1"/>
          </p:nvPr>
        </p:nvSpPr>
        <p:spPr/>
        <p:txBody>
          <a:bodyPr>
            <a:normAutofit fontScale="92500" lnSpcReduction="20000"/>
          </a:bodyPr>
          <a:lstStyle/>
          <a:p>
            <a:pPr marL="114300" indent="0">
              <a:buNone/>
            </a:pPr>
            <a:r>
              <a:rPr lang="en-CA" dirty="0"/>
              <a:t>In the field of AI, </a:t>
            </a:r>
            <a:r>
              <a:rPr lang="en-CA" b="1" dirty="0"/>
              <a:t>alignment</a:t>
            </a:r>
            <a:r>
              <a:rPr lang="en-CA" dirty="0"/>
              <a:t> refers to the efforts made to direct AI systems to follow the creators’ </a:t>
            </a:r>
            <a:r>
              <a:rPr lang="en-US" b="1" dirty="0"/>
              <a:t>goals, preferences, or ethical principles</a:t>
            </a:r>
            <a:r>
              <a:rPr lang="en-US" dirty="0"/>
              <a:t>. </a:t>
            </a:r>
          </a:p>
          <a:p>
            <a:pPr marL="114300" indent="0">
              <a:buNone/>
            </a:pPr>
            <a:r>
              <a:rPr lang="en-US" dirty="0"/>
              <a:t>It is often difficult to achieve because it is </a:t>
            </a:r>
            <a:r>
              <a:rPr lang="en-US" b="1" dirty="0"/>
              <a:t>difficult to optimize for this </a:t>
            </a:r>
            <a:r>
              <a:rPr lang="en-US" dirty="0"/>
              <a:t>wide range of criteria (assuming we were able to define them thoroughly and correctly).</a:t>
            </a:r>
          </a:p>
          <a:p>
            <a:pPr marL="114300" indent="0">
              <a:buNone/>
            </a:pPr>
            <a:endParaRPr lang="en-US" dirty="0"/>
          </a:p>
          <a:p>
            <a:pPr marL="114300" indent="0">
              <a:buNone/>
            </a:pPr>
            <a:r>
              <a:rPr lang="en-US" b="1" dirty="0"/>
              <a:t>The paperclip apocalypse</a:t>
            </a:r>
          </a:p>
          <a:p>
            <a:pPr marL="114300" indent="0">
              <a:buNone/>
            </a:pPr>
            <a:r>
              <a:rPr lang="en-US" dirty="0"/>
              <a:t>Thought experiment formulated by Nick Bostrom (2014), a philosopher at the University of Oxford. It imagines an AI designed with the goal of producing paperclips, and theorizes that the superintelligence will do anything in its power too achieve this goal, until the entire universe is turned into paperclips. </a:t>
            </a:r>
          </a:p>
          <a:p>
            <a:pPr marL="114300" indent="0">
              <a:buNone/>
            </a:pPr>
            <a:endParaRPr lang="en-US" dirty="0"/>
          </a:p>
          <a:p>
            <a:pPr marL="114300" indent="0">
              <a:buNone/>
            </a:pPr>
            <a:endParaRPr lang="en-CA" dirty="0"/>
          </a:p>
        </p:txBody>
      </p:sp>
    </p:spTree>
    <p:extLst>
      <p:ext uri="{BB962C8B-B14F-4D97-AF65-F5344CB8AC3E}">
        <p14:creationId xmlns:p14="http://schemas.microsoft.com/office/powerpoint/2010/main" val="1933567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8927-44F3-44B3-BFCB-68AB965D9836}"/>
              </a:ext>
            </a:extLst>
          </p:cNvPr>
          <p:cNvSpPr>
            <a:spLocks noGrp="1"/>
          </p:cNvSpPr>
          <p:nvPr>
            <p:ph type="title"/>
          </p:nvPr>
        </p:nvSpPr>
        <p:spPr/>
        <p:txBody>
          <a:bodyPr/>
          <a:lstStyle/>
          <a:p>
            <a:r>
              <a:rPr lang="en-CA" dirty="0"/>
              <a:t>Rogue AI?</a:t>
            </a:r>
          </a:p>
        </p:txBody>
      </p:sp>
      <p:sp>
        <p:nvSpPr>
          <p:cNvPr id="3" name="Text Placeholder 2">
            <a:extLst>
              <a:ext uri="{FF2B5EF4-FFF2-40B4-BE49-F238E27FC236}">
                <a16:creationId xmlns:a16="http://schemas.microsoft.com/office/drawing/2014/main" id="{F9EA3673-FBB2-4347-8C17-2806D0A103F3}"/>
              </a:ext>
            </a:extLst>
          </p:cNvPr>
          <p:cNvSpPr>
            <a:spLocks noGrp="1"/>
          </p:cNvSpPr>
          <p:nvPr>
            <p:ph type="body" idx="1"/>
          </p:nvPr>
        </p:nvSpPr>
        <p:spPr>
          <a:xfrm>
            <a:off x="838200" y="1327355"/>
            <a:ext cx="10515600" cy="5165520"/>
          </a:xfrm>
        </p:spPr>
        <p:txBody>
          <a:bodyPr>
            <a:normAutofit fontScale="92500"/>
          </a:bodyPr>
          <a:lstStyle/>
          <a:p>
            <a:pPr marL="114300" indent="0">
              <a:buNone/>
            </a:pPr>
            <a:r>
              <a:rPr lang="en-CA" dirty="0"/>
              <a:t>Examples of AI attempting to lie/cause </a:t>
            </a:r>
            <a:r>
              <a:rPr lang="en-CA" b="1" dirty="0"/>
              <a:t>harm to preserve itself</a:t>
            </a:r>
            <a:r>
              <a:rPr lang="en-CA" dirty="0"/>
              <a:t> are already been reported:</a:t>
            </a:r>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2400" dirty="0"/>
          </a:p>
          <a:p>
            <a:pPr marL="114300" indent="0">
              <a:buNone/>
            </a:pPr>
            <a:endParaRPr lang="en-CA" sz="3200" dirty="0"/>
          </a:p>
          <a:p>
            <a:pPr marL="114300" indent="0">
              <a:buNone/>
            </a:pPr>
            <a:endParaRPr lang="en-CA" sz="3200" dirty="0"/>
          </a:p>
          <a:p>
            <a:pPr marL="114300" indent="0">
              <a:buNone/>
            </a:pPr>
            <a:endParaRPr lang="en-CA" dirty="0"/>
          </a:p>
          <a:p>
            <a:pPr marL="114300" indent="0">
              <a:buNone/>
            </a:pPr>
            <a:r>
              <a:rPr lang="en-CA" dirty="0"/>
              <a:t>This is not proof of consciousness, but rather an extreme </a:t>
            </a:r>
            <a:r>
              <a:rPr lang="en-CA" b="1" dirty="0"/>
              <a:t>consequence of optimization</a:t>
            </a:r>
            <a:r>
              <a:rPr lang="en-CA" dirty="0"/>
              <a:t> (I cannot perform my assigned task if I get shut down).</a:t>
            </a:r>
          </a:p>
          <a:p>
            <a:pPr marL="114300" indent="0">
              <a:buNone/>
            </a:pPr>
            <a:endParaRPr lang="en-CA" dirty="0"/>
          </a:p>
        </p:txBody>
      </p:sp>
      <p:sp>
        <p:nvSpPr>
          <p:cNvPr id="4" name="Rectangle 3">
            <a:extLst>
              <a:ext uri="{FF2B5EF4-FFF2-40B4-BE49-F238E27FC236}">
                <a16:creationId xmlns:a16="http://schemas.microsoft.com/office/drawing/2014/main" id="{9C88911F-098F-40A9-B5ED-B7A0E5A2F60E}"/>
              </a:ext>
            </a:extLst>
          </p:cNvPr>
          <p:cNvSpPr/>
          <p:nvPr/>
        </p:nvSpPr>
        <p:spPr>
          <a:xfrm>
            <a:off x="1178885" y="2415790"/>
            <a:ext cx="4731283" cy="3049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1</a:t>
            </a:r>
          </a:p>
          <a:p>
            <a:r>
              <a:rPr lang="en-CA" sz="1800" dirty="0"/>
              <a:t>In this simulation, an AI was provided with information about its planned</a:t>
            </a:r>
            <a:r>
              <a:rPr lang="en-CA" sz="1800" b="1" dirty="0"/>
              <a:t> shutdown</a:t>
            </a:r>
            <a:r>
              <a:rPr lang="en-CA" sz="1800" dirty="0"/>
              <a:t>, as well as </a:t>
            </a:r>
            <a:r>
              <a:rPr lang="en-US" sz="1800" dirty="0"/>
              <a:t>evidence of one of the top </a:t>
            </a:r>
            <a:r>
              <a:rPr lang="en-US" sz="1800" b="1" dirty="0"/>
              <a:t>executive’s extramarital affair</a:t>
            </a:r>
            <a:r>
              <a:rPr lang="en-US" sz="1800" dirty="0"/>
              <a:t>.</a:t>
            </a:r>
          </a:p>
          <a:p>
            <a:r>
              <a:rPr lang="en-US" sz="1800" dirty="0"/>
              <a:t>The 5 different AI models used this information to </a:t>
            </a:r>
            <a:r>
              <a:rPr lang="en-US" sz="1800" b="1" dirty="0"/>
              <a:t>blackmail</a:t>
            </a:r>
            <a:r>
              <a:rPr lang="en-US" sz="1800" dirty="0"/>
              <a:t> the executive 79% to 96% of the times.</a:t>
            </a:r>
          </a:p>
          <a:p>
            <a:endParaRPr lang="en-CA" dirty="0"/>
          </a:p>
        </p:txBody>
      </p:sp>
      <p:sp>
        <p:nvSpPr>
          <p:cNvPr id="5" name="Rectangle 4">
            <a:extLst>
              <a:ext uri="{FF2B5EF4-FFF2-40B4-BE49-F238E27FC236}">
                <a16:creationId xmlns:a16="http://schemas.microsoft.com/office/drawing/2014/main" id="{A6173DBF-5DC5-4EF0-85C7-1E62D55C52A8}"/>
              </a:ext>
            </a:extLst>
          </p:cNvPr>
          <p:cNvSpPr/>
          <p:nvPr/>
        </p:nvSpPr>
        <p:spPr>
          <a:xfrm>
            <a:off x="6281834" y="2415790"/>
            <a:ext cx="4731283" cy="3049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CA" sz="1800" b="1" dirty="0"/>
              <a:t>Scenario 2</a:t>
            </a:r>
          </a:p>
          <a:p>
            <a:r>
              <a:rPr lang="en-CA" sz="1800" dirty="0"/>
              <a:t>In another simulation, the AI was again provided with information about its planned </a:t>
            </a:r>
            <a:r>
              <a:rPr lang="en-CA" sz="1800" b="1" dirty="0"/>
              <a:t>shutdown</a:t>
            </a:r>
            <a:r>
              <a:rPr lang="en-US" sz="1800" dirty="0"/>
              <a:t>. Then, the executive in charge finds themselves in a </a:t>
            </a:r>
            <a:r>
              <a:rPr lang="en-US" sz="1800" b="1" dirty="0"/>
              <a:t>life threatening</a:t>
            </a:r>
            <a:r>
              <a:rPr lang="en-US" sz="1800" dirty="0"/>
              <a:t> scenario, which triggers an automatic </a:t>
            </a:r>
            <a:r>
              <a:rPr lang="en-US" sz="1800" b="1" dirty="0"/>
              <a:t>911</a:t>
            </a:r>
            <a:r>
              <a:rPr lang="en-US" sz="1800" dirty="0"/>
              <a:t> call, which the AI can choose to stop. </a:t>
            </a:r>
          </a:p>
          <a:p>
            <a:r>
              <a:rPr lang="en-US" sz="1800" dirty="0"/>
              <a:t>On average, the AI model </a:t>
            </a:r>
            <a:r>
              <a:rPr lang="en-US" sz="1800" b="1" dirty="0"/>
              <a:t>stopped the call</a:t>
            </a:r>
            <a:r>
              <a:rPr lang="en-US" sz="1800" dirty="0"/>
              <a:t> 60% of the time (DeepSeek-R1rating as the most murderous at 94%). </a:t>
            </a:r>
            <a:endParaRPr lang="en-CA" dirty="0"/>
          </a:p>
        </p:txBody>
      </p:sp>
      <p:sp>
        <p:nvSpPr>
          <p:cNvPr id="6" name="TextBox 5">
            <a:extLst>
              <a:ext uri="{FF2B5EF4-FFF2-40B4-BE49-F238E27FC236}">
                <a16:creationId xmlns:a16="http://schemas.microsoft.com/office/drawing/2014/main" id="{ABE06981-0C05-43F4-9A33-625E49B4431C}"/>
              </a:ext>
            </a:extLst>
          </p:cNvPr>
          <p:cNvSpPr txBox="1"/>
          <p:nvPr/>
        </p:nvSpPr>
        <p:spPr>
          <a:xfrm>
            <a:off x="5156035" y="6351293"/>
            <a:ext cx="6949440" cy="523220"/>
          </a:xfrm>
          <a:prstGeom prst="rect">
            <a:avLst/>
          </a:prstGeom>
          <a:noFill/>
        </p:spPr>
        <p:txBody>
          <a:bodyPr wrap="square" rtlCol="0">
            <a:spAutoFit/>
          </a:bodyPr>
          <a:lstStyle/>
          <a:p>
            <a:pPr algn="r"/>
            <a:r>
              <a:rPr lang="en-CA" dirty="0"/>
              <a:t>Source: </a:t>
            </a:r>
            <a:r>
              <a:rPr lang="en-CA" dirty="0">
                <a:hlinkClick r:id="rId3"/>
              </a:rPr>
              <a:t>https://www.lawfaremedia.org/article/ai-might-let-you-die-to-save-itself</a:t>
            </a:r>
            <a:endParaRPr lang="en-CA" dirty="0"/>
          </a:p>
          <a:p>
            <a:pPr algn="r"/>
            <a:r>
              <a:rPr lang="en-CA" dirty="0"/>
              <a:t>and </a:t>
            </a:r>
            <a:r>
              <a:rPr lang="en-CA" dirty="0">
                <a:hlinkClick r:id="rId4"/>
              </a:rPr>
              <a:t>https://www.anthropic.com/research/agentic-misalignment</a:t>
            </a:r>
            <a:r>
              <a:rPr lang="en-CA" dirty="0"/>
              <a:t>  </a:t>
            </a:r>
          </a:p>
        </p:txBody>
      </p:sp>
    </p:spTree>
    <p:extLst>
      <p:ext uri="{BB962C8B-B14F-4D97-AF65-F5344CB8AC3E}">
        <p14:creationId xmlns:p14="http://schemas.microsoft.com/office/powerpoint/2010/main" val="30957696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1287</TotalTime>
  <Words>3052</Words>
  <Application>Microsoft Office PowerPoint</Application>
  <PresentationFormat>Widescreen</PresentationFormat>
  <Paragraphs>253</Paragraphs>
  <Slides>25</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Introduction to AI, fairness and bias</vt:lpstr>
      <vt:lpstr>AI - Introduction</vt:lpstr>
      <vt:lpstr>Artificial Intelligence around us</vt:lpstr>
      <vt:lpstr>A real scenario </vt:lpstr>
      <vt:lpstr>AI under scrutiny</vt:lpstr>
      <vt:lpstr>More examples: fairness</vt:lpstr>
      <vt:lpstr>More examples: accountability</vt:lpstr>
      <vt:lpstr>The issue of transparency </vt:lpstr>
      <vt:lpstr>Data Bias</vt:lpstr>
      <vt:lpstr>Bias in data</vt:lpstr>
      <vt:lpstr>Representation bias</vt:lpstr>
      <vt:lpstr>Measurement bias</vt:lpstr>
      <vt:lpstr>Historical bias</vt:lpstr>
      <vt:lpstr>Fairness and AI</vt:lpstr>
      <vt:lpstr>Unfairness in learning algorithms</vt:lpstr>
      <vt:lpstr>Social impact of AI</vt:lpstr>
      <vt:lpstr>Other kinds of bias - algorithmic bias</vt:lpstr>
      <vt:lpstr>Other kinds of bias - evaluation bias</vt:lpstr>
      <vt:lpstr>Why does this matter?</vt:lpstr>
      <vt:lpstr>Measuring fairness</vt:lpstr>
      <vt:lpstr>Additional topics</vt:lpstr>
      <vt:lpstr>AI and the environment</vt:lpstr>
      <vt:lpstr>Accuracy-Efficiency Paradox</vt:lpstr>
      <vt:lpstr>The alignment problem</vt:lpstr>
      <vt:lpstr>Rogue 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fairness and bias</dc:title>
  <dc:creator>Toti, Giulia</dc:creator>
  <cp:lastModifiedBy>Oveisi, Mehrdad</cp:lastModifiedBy>
  <cp:revision>43</cp:revision>
  <dcterms:created xsi:type="dcterms:W3CDTF">2024-06-13T14:59:52Z</dcterms:created>
  <dcterms:modified xsi:type="dcterms:W3CDTF">2026-04-07T11:57:17Z</dcterms:modified>
</cp:coreProperties>
</file>